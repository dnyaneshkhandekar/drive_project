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84" r:id="rId5"/>
    <p:sldId id="285" r:id="rId6"/>
    <p:sldId id="286" r:id="rId7"/>
    <p:sldId id="287" r:id="rId8"/>
    <p:sldId id="290" r:id="rId9"/>
    <p:sldId id="273" r:id="rId10"/>
    <p:sldId id="260" r:id="rId11"/>
    <p:sldId id="262" r:id="rId12"/>
    <p:sldId id="279" r:id="rId13"/>
    <p:sldId id="289" r:id="rId14"/>
    <p:sldId id="288" r:id="rId15"/>
    <p:sldId id="269" r:id="rId16"/>
    <p:sldId id="283" r:id="rId17"/>
    <p:sldId id="270" r:id="rId18"/>
    <p:sldId id="271"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nchan Pagare" initials="KP" lastIdx="1" clrIdx="0">
    <p:extLst>
      <p:ext uri="{19B8F6BF-5375-455C-9EA6-DF929625EA0E}">
        <p15:presenceInfo xmlns:p15="http://schemas.microsoft.com/office/powerpoint/2012/main" userId="520d4ef558fc87a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167" autoAdjust="0"/>
    <p:restoredTop sz="95806" autoAdjust="0"/>
  </p:normalViewPr>
  <p:slideViewPr>
    <p:cSldViewPr>
      <p:cViewPr varScale="1">
        <p:scale>
          <a:sx n="82" d="100"/>
          <a:sy n="82" d="100"/>
        </p:scale>
        <p:origin x="1267" y="72"/>
      </p:cViewPr>
      <p:guideLst>
        <p:guide orient="horz" pos="2160"/>
        <p:guide pos="2880"/>
      </p:guideLst>
    </p:cSldViewPr>
  </p:slideViewPr>
  <p:outlineViewPr>
    <p:cViewPr>
      <p:scale>
        <a:sx n="33" d="100"/>
        <a:sy n="33" d="100"/>
      </p:scale>
      <p:origin x="42" y="1701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nyanesh khandekar" userId="6382eb0c3e030ecb" providerId="LiveId" clId="{C15695B3-407B-4458-B544-FC181DB428D3}"/>
    <pc:docChg chg="custSel addSld modSld">
      <pc:chgData name="dnyanesh khandekar" userId="6382eb0c3e030ecb" providerId="LiveId" clId="{C15695B3-407B-4458-B544-FC181DB428D3}" dt="2025-02-16T15:35:41.386" v="93" actId="1076"/>
      <pc:docMkLst>
        <pc:docMk/>
      </pc:docMkLst>
      <pc:sldChg chg="modSp mod">
        <pc:chgData name="dnyanesh khandekar" userId="6382eb0c3e030ecb" providerId="LiveId" clId="{C15695B3-407B-4458-B544-FC181DB428D3}" dt="2025-02-16T15:30:36.114" v="63" actId="20577"/>
        <pc:sldMkLst>
          <pc:docMk/>
          <pc:sldMk cId="2322219686" sldId="287"/>
        </pc:sldMkLst>
        <pc:graphicFrameChg chg="modGraphic">
          <ac:chgData name="dnyanesh khandekar" userId="6382eb0c3e030ecb" providerId="LiveId" clId="{C15695B3-407B-4458-B544-FC181DB428D3}" dt="2025-02-16T15:30:36.114" v="63" actId="20577"/>
          <ac:graphicFrameMkLst>
            <pc:docMk/>
            <pc:sldMk cId="2322219686" sldId="287"/>
            <ac:graphicFrameMk id="4" creationId="{A5AE3BE5-B9D0-A30D-4AD0-483E59346813}"/>
          </ac:graphicFrameMkLst>
        </pc:graphicFrameChg>
      </pc:sldChg>
      <pc:sldChg chg="addSp delSp modSp new mod">
        <pc:chgData name="dnyanesh khandekar" userId="6382eb0c3e030ecb" providerId="LiveId" clId="{C15695B3-407B-4458-B544-FC181DB428D3}" dt="2025-02-16T15:35:41.386" v="93" actId="1076"/>
        <pc:sldMkLst>
          <pc:docMk/>
          <pc:sldMk cId="689874993" sldId="290"/>
        </pc:sldMkLst>
        <pc:graphicFrameChg chg="add mod ord modGraphic">
          <ac:chgData name="dnyanesh khandekar" userId="6382eb0c3e030ecb" providerId="LiveId" clId="{C15695B3-407B-4458-B544-FC181DB428D3}" dt="2025-02-16T15:35:41.386" v="93" actId="1076"/>
          <ac:graphicFrameMkLst>
            <pc:docMk/>
            <pc:sldMk cId="689874993" sldId="290"/>
            <ac:graphicFrameMk id="4" creationId="{55E89F05-5D85-B776-9D97-38F3C46E777A}"/>
          </ac:graphicFrameMkLst>
        </pc:graphicFrameChg>
      </pc:sldChg>
    </pc:docChg>
  </pc:docChgLst>
  <pc:docChgLst>
    <pc:chgData name="dnyanesh khandekar" userId="6382eb0c3e030ecb" providerId="LiveId" clId="{D04AD418-C3FB-4DA1-ADA3-5FF8E358E85F}"/>
    <pc:docChg chg="modSld">
      <pc:chgData name="dnyanesh khandekar" userId="6382eb0c3e030ecb" providerId="LiveId" clId="{D04AD418-C3FB-4DA1-ADA3-5FF8E358E85F}" dt="2025-04-02T15:28:08.360" v="1" actId="207"/>
      <pc:docMkLst>
        <pc:docMk/>
      </pc:docMkLst>
      <pc:sldChg chg="modSp mod">
        <pc:chgData name="dnyanesh khandekar" userId="6382eb0c3e030ecb" providerId="LiveId" clId="{D04AD418-C3FB-4DA1-ADA3-5FF8E358E85F}" dt="2025-04-02T15:28:08.360" v="1" actId="207"/>
        <pc:sldMkLst>
          <pc:docMk/>
          <pc:sldMk cId="4107770651" sldId="256"/>
        </pc:sldMkLst>
        <pc:spChg chg="mod">
          <ac:chgData name="dnyanesh khandekar" userId="6382eb0c3e030ecb" providerId="LiveId" clId="{D04AD418-C3FB-4DA1-ADA3-5FF8E358E85F}" dt="2025-04-02T15:28:08.360" v="1" actId="207"/>
          <ac:spMkLst>
            <pc:docMk/>
            <pc:sldMk cId="4107770651" sldId="25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79AB9E-9E9D-466C-911D-8819C6A8FDAE}" type="datetimeFigureOut">
              <a:rPr lang="en-IN" smtClean="0"/>
              <a:t>02-04-2025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52F58A-C90F-4AAC-AED5-249A41F440F2}" type="slidenum">
              <a:rPr lang="en-IN" smtClean="0"/>
              <a:t>‹#›</a:t>
            </a:fld>
            <a:endParaRPr lang="en-IN"/>
          </a:p>
        </p:txBody>
      </p:sp>
    </p:spTree>
    <p:extLst>
      <p:ext uri="{BB962C8B-B14F-4D97-AF65-F5344CB8AC3E}">
        <p14:creationId xmlns:p14="http://schemas.microsoft.com/office/powerpoint/2010/main" val="3262145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52F58A-C90F-4AAC-AED5-249A41F440F2}" type="slidenum">
              <a:rPr lang="en-IN" smtClean="0"/>
              <a:t>1</a:t>
            </a:fld>
            <a:endParaRPr lang="en-IN"/>
          </a:p>
        </p:txBody>
      </p:sp>
    </p:spTree>
    <p:extLst>
      <p:ext uri="{BB962C8B-B14F-4D97-AF65-F5344CB8AC3E}">
        <p14:creationId xmlns:p14="http://schemas.microsoft.com/office/powerpoint/2010/main" val="3228381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52F58A-C90F-4AAC-AED5-249A41F440F2}" type="slidenum">
              <a:rPr lang="en-IN" smtClean="0"/>
              <a:t>12</a:t>
            </a:fld>
            <a:endParaRPr lang="en-IN"/>
          </a:p>
        </p:txBody>
      </p:sp>
    </p:spTree>
    <p:extLst>
      <p:ext uri="{BB962C8B-B14F-4D97-AF65-F5344CB8AC3E}">
        <p14:creationId xmlns:p14="http://schemas.microsoft.com/office/powerpoint/2010/main" val="435821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AA1D478-65FA-40CE-9CBE-FBB217449421}" type="datetimeFigureOut">
              <a:rPr lang="en-IN" smtClean="0"/>
              <a:pPr/>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5338FC-C51D-41A8-8AC0-8FF71A16BCB8}" type="slidenum">
              <a:rPr lang="en-IN" smtClean="0"/>
              <a:pPr/>
              <a:t>‹#›</a:t>
            </a:fld>
            <a:endParaRPr lang="en-IN"/>
          </a:p>
        </p:txBody>
      </p:sp>
    </p:spTree>
    <p:extLst>
      <p:ext uri="{BB962C8B-B14F-4D97-AF65-F5344CB8AC3E}">
        <p14:creationId xmlns:p14="http://schemas.microsoft.com/office/powerpoint/2010/main" val="2941506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AA1D478-65FA-40CE-9CBE-FBB217449421}" type="datetimeFigureOut">
              <a:rPr lang="en-IN" smtClean="0"/>
              <a:pPr/>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5338FC-C51D-41A8-8AC0-8FF71A16BCB8}" type="slidenum">
              <a:rPr lang="en-IN" smtClean="0"/>
              <a:pPr/>
              <a:t>‹#›</a:t>
            </a:fld>
            <a:endParaRPr lang="en-IN"/>
          </a:p>
        </p:txBody>
      </p:sp>
    </p:spTree>
    <p:extLst>
      <p:ext uri="{BB962C8B-B14F-4D97-AF65-F5344CB8AC3E}">
        <p14:creationId xmlns:p14="http://schemas.microsoft.com/office/powerpoint/2010/main" val="498605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A1D478-65FA-40CE-9CBE-FBB217449421}" type="datetimeFigureOut">
              <a:rPr lang="en-IN" smtClean="0"/>
              <a:pPr/>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5338FC-C51D-41A8-8AC0-8FF71A16BCB8}" type="slidenum">
              <a:rPr lang="en-IN" smtClean="0"/>
              <a:pPr/>
              <a:t>‹#›</a:t>
            </a:fld>
            <a:endParaRPr lang="en-IN"/>
          </a:p>
        </p:txBody>
      </p:sp>
    </p:spTree>
    <p:extLst>
      <p:ext uri="{BB962C8B-B14F-4D97-AF65-F5344CB8AC3E}">
        <p14:creationId xmlns:p14="http://schemas.microsoft.com/office/powerpoint/2010/main" val="194989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AA1D478-65FA-40CE-9CBE-FBB217449421}" type="datetimeFigureOut">
              <a:rPr lang="en-IN" smtClean="0"/>
              <a:pPr/>
              <a:t>02-04-2025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5338FC-C51D-41A8-8AC0-8FF71A16BCB8}" type="slidenum">
              <a:rPr lang="en-IN" smtClean="0"/>
              <a:pPr/>
              <a:t>‹#›</a:t>
            </a:fld>
            <a:endParaRPr lang="en-IN"/>
          </a:p>
        </p:txBody>
      </p:sp>
    </p:spTree>
    <p:extLst>
      <p:ext uri="{BB962C8B-B14F-4D97-AF65-F5344CB8AC3E}">
        <p14:creationId xmlns:p14="http://schemas.microsoft.com/office/powerpoint/2010/main" val="1786965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AA1D478-65FA-40CE-9CBE-FBB217449421}" type="datetimeFigureOut">
              <a:rPr lang="en-IN" smtClean="0"/>
              <a:pPr/>
              <a:t>02-04-2025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85338FC-C51D-41A8-8AC0-8FF71A16BCB8}" type="slidenum">
              <a:rPr lang="en-IN" smtClean="0"/>
              <a:pPr/>
              <a:t>‹#›</a:t>
            </a:fld>
            <a:endParaRPr lang="en-IN"/>
          </a:p>
        </p:txBody>
      </p:sp>
    </p:spTree>
    <p:extLst>
      <p:ext uri="{BB962C8B-B14F-4D97-AF65-F5344CB8AC3E}">
        <p14:creationId xmlns:p14="http://schemas.microsoft.com/office/powerpoint/2010/main" val="674416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AA1D478-65FA-40CE-9CBE-FBB217449421}" type="datetimeFigureOut">
              <a:rPr lang="en-IN" smtClean="0"/>
              <a:pPr/>
              <a:t>02-04-2025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85338FC-C51D-41A8-8AC0-8FF71A16BCB8}" type="slidenum">
              <a:rPr lang="en-IN" smtClean="0"/>
              <a:pPr/>
              <a:t>‹#›</a:t>
            </a:fld>
            <a:endParaRPr lang="en-IN"/>
          </a:p>
        </p:txBody>
      </p:sp>
    </p:spTree>
    <p:extLst>
      <p:ext uri="{BB962C8B-B14F-4D97-AF65-F5344CB8AC3E}">
        <p14:creationId xmlns:p14="http://schemas.microsoft.com/office/powerpoint/2010/main" val="2554043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A1D478-65FA-40CE-9CBE-FBB217449421}" type="datetimeFigureOut">
              <a:rPr lang="en-IN" smtClean="0"/>
              <a:pPr/>
              <a:t>02-04-2025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85338FC-C51D-41A8-8AC0-8FF71A16BCB8}" type="slidenum">
              <a:rPr lang="en-IN" smtClean="0"/>
              <a:pPr/>
              <a:t>‹#›</a:t>
            </a:fld>
            <a:endParaRPr lang="en-IN"/>
          </a:p>
        </p:txBody>
      </p:sp>
    </p:spTree>
    <p:extLst>
      <p:ext uri="{BB962C8B-B14F-4D97-AF65-F5344CB8AC3E}">
        <p14:creationId xmlns:p14="http://schemas.microsoft.com/office/powerpoint/2010/main" val="1744238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A1D478-65FA-40CE-9CBE-FBB217449421}" type="datetimeFigureOut">
              <a:rPr lang="en-IN" smtClean="0"/>
              <a:pPr/>
              <a:t>02-04-2025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5338FC-C51D-41A8-8AC0-8FF71A16BCB8}" type="slidenum">
              <a:rPr lang="en-IN" smtClean="0"/>
              <a:pPr/>
              <a:t>‹#›</a:t>
            </a:fld>
            <a:endParaRPr lang="en-IN"/>
          </a:p>
        </p:txBody>
      </p:sp>
    </p:spTree>
    <p:extLst>
      <p:ext uri="{BB962C8B-B14F-4D97-AF65-F5344CB8AC3E}">
        <p14:creationId xmlns:p14="http://schemas.microsoft.com/office/powerpoint/2010/main" val="1371835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A1D478-65FA-40CE-9CBE-FBB217449421}" type="datetimeFigureOut">
              <a:rPr lang="en-IN" smtClean="0"/>
              <a:pPr/>
              <a:t>02-04-2025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5338FC-C51D-41A8-8AC0-8FF71A16BCB8}" type="slidenum">
              <a:rPr lang="en-IN" smtClean="0"/>
              <a:pPr/>
              <a:t>‹#›</a:t>
            </a:fld>
            <a:endParaRPr lang="en-IN"/>
          </a:p>
        </p:txBody>
      </p:sp>
    </p:spTree>
    <p:extLst>
      <p:ext uri="{BB962C8B-B14F-4D97-AF65-F5344CB8AC3E}">
        <p14:creationId xmlns:p14="http://schemas.microsoft.com/office/powerpoint/2010/main" val="3324585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AA1D478-65FA-40CE-9CBE-FBB217449421}" type="datetimeFigureOut">
              <a:rPr lang="en-IN" smtClean="0"/>
              <a:pPr/>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5338FC-C51D-41A8-8AC0-8FF71A16BCB8}" type="slidenum">
              <a:rPr lang="en-IN" smtClean="0"/>
              <a:pPr/>
              <a:t>‹#›</a:t>
            </a:fld>
            <a:endParaRPr lang="en-IN"/>
          </a:p>
        </p:txBody>
      </p:sp>
    </p:spTree>
    <p:extLst>
      <p:ext uri="{BB962C8B-B14F-4D97-AF65-F5344CB8AC3E}">
        <p14:creationId xmlns:p14="http://schemas.microsoft.com/office/powerpoint/2010/main" val="2891847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AA1D478-65FA-40CE-9CBE-FBB217449421}" type="datetimeFigureOut">
              <a:rPr lang="en-IN" smtClean="0"/>
              <a:pPr/>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5338FC-C51D-41A8-8AC0-8FF71A16BCB8}" type="slidenum">
              <a:rPr lang="en-IN" smtClean="0"/>
              <a:pPr/>
              <a:t>‹#›</a:t>
            </a:fld>
            <a:endParaRPr lang="en-IN"/>
          </a:p>
        </p:txBody>
      </p:sp>
    </p:spTree>
    <p:extLst>
      <p:ext uri="{BB962C8B-B14F-4D97-AF65-F5344CB8AC3E}">
        <p14:creationId xmlns:p14="http://schemas.microsoft.com/office/powerpoint/2010/main" val="2529984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A1D478-65FA-40CE-9CBE-FBB217449421}" type="datetimeFigureOut">
              <a:rPr lang="en-IN" smtClean="0"/>
              <a:pPr/>
              <a:t>02-04-2025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5338FC-C51D-41A8-8AC0-8FF71A16BCB8}" type="slidenum">
              <a:rPr lang="en-IN" smtClean="0"/>
              <a:pPr/>
              <a:t>‹#›</a:t>
            </a:fld>
            <a:endParaRPr lang="en-IN"/>
          </a:p>
        </p:txBody>
      </p:sp>
    </p:spTree>
    <p:extLst>
      <p:ext uri="{BB962C8B-B14F-4D97-AF65-F5344CB8AC3E}">
        <p14:creationId xmlns:p14="http://schemas.microsoft.com/office/powerpoint/2010/main" val="3652273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3528" y="188640"/>
            <a:ext cx="8496944" cy="1296144"/>
          </a:xfrm>
        </p:spPr>
        <p:txBody>
          <a:bodyPr>
            <a:normAutofit fontScale="90000"/>
          </a:bodyPr>
          <a:lstStyle/>
          <a:p>
            <a:r>
              <a:rPr lang="en-IN" sz="3600" b="1" dirty="0" err="1">
                <a:latin typeface="Times New Roman" panose="02020603050405020304" pitchFamily="18" charset="0"/>
                <a:cs typeface="Times New Roman" panose="02020603050405020304" pitchFamily="18" charset="0"/>
              </a:rPr>
              <a:t>Datta</a:t>
            </a:r>
            <a:r>
              <a:rPr lang="en-IN" sz="3600" b="1" dirty="0">
                <a:latin typeface="Times New Roman" panose="02020603050405020304" pitchFamily="18" charset="0"/>
                <a:cs typeface="Times New Roman" panose="02020603050405020304" pitchFamily="18" charset="0"/>
              </a:rPr>
              <a:t> Meghe College of Engineering</a:t>
            </a:r>
            <a:br>
              <a:rPr lang="en-IN"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Airoli, Navi Mumbai</a:t>
            </a:r>
            <a:br>
              <a:rPr lang="en-IN" dirty="0">
                <a:latin typeface="Times New Roman" panose="02020603050405020304" pitchFamily="18" charset="0"/>
                <a:cs typeface="Times New Roman" panose="02020603050405020304" pitchFamily="18" charset="0"/>
              </a:rPr>
            </a:br>
            <a:r>
              <a:rPr lang="en-IN" sz="3100" b="1" dirty="0">
                <a:latin typeface="Times New Roman" panose="02020603050405020304" pitchFamily="18" charset="0"/>
                <a:cs typeface="Times New Roman" panose="02020603050405020304" pitchFamily="18" charset="0"/>
              </a:rPr>
              <a:t>Department of Information Technology</a:t>
            </a:r>
            <a:endParaRPr lang="en-IN" sz="31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51520" y="1772816"/>
            <a:ext cx="8568952" cy="4896544"/>
          </a:xfrm>
        </p:spPr>
        <p:txBody>
          <a:bodyPr>
            <a:normAutofit fontScale="70000" lnSpcReduction="20000"/>
          </a:bodyPr>
          <a:lstStyle/>
          <a:p>
            <a:pPr marL="0" indent="0" algn="ctr">
              <a:buNone/>
            </a:pPr>
            <a:r>
              <a:rPr lang="en-IN" sz="2800" b="1" dirty="0">
                <a:solidFill>
                  <a:schemeClr val="accent2">
                    <a:lumMod val="50000"/>
                  </a:schemeClr>
                </a:solidFill>
                <a:latin typeface="Times New Roman" panose="02020603050405020304" pitchFamily="18" charset="0"/>
                <a:cs typeface="Times New Roman" panose="02020603050405020304" pitchFamily="18" charset="0"/>
              </a:rPr>
              <a:t>University of Mumbai</a:t>
            </a:r>
          </a:p>
          <a:p>
            <a:pPr marL="0" indent="0" algn="ctr">
              <a:buNone/>
            </a:pPr>
            <a:r>
              <a:rPr lang="en-IN" sz="2800" b="1" dirty="0">
                <a:solidFill>
                  <a:schemeClr val="accent2">
                    <a:lumMod val="50000"/>
                  </a:schemeClr>
                </a:solidFill>
                <a:latin typeface="Times New Roman" panose="02020603050405020304" pitchFamily="18" charset="0"/>
                <a:cs typeface="Times New Roman" panose="02020603050405020304" pitchFamily="18" charset="0"/>
              </a:rPr>
              <a:t>Academic Session : 2024 - 25</a:t>
            </a:r>
          </a:p>
          <a:p>
            <a:pPr marL="0" indent="0" algn="ctr">
              <a:buNone/>
            </a:pPr>
            <a:endParaRPr lang="en-IN" sz="2900" b="1" dirty="0">
              <a:latin typeface="Times New Roman" panose="02020603050405020304" pitchFamily="18" charset="0"/>
              <a:cs typeface="Times New Roman" panose="02020603050405020304" pitchFamily="18" charset="0"/>
            </a:endParaRPr>
          </a:p>
          <a:p>
            <a:pPr marL="0" indent="0" algn="ctr">
              <a:buNone/>
            </a:pPr>
            <a:r>
              <a:rPr lang="en-IN" b="1" dirty="0">
                <a:solidFill>
                  <a:schemeClr val="accent1"/>
                </a:solidFill>
                <a:latin typeface="Times New Roman" panose="02020603050405020304" pitchFamily="18" charset="0"/>
                <a:cs typeface="Times New Roman" panose="02020603050405020304" pitchFamily="18" charset="0"/>
              </a:rPr>
              <a:t>A Presentation </a:t>
            </a:r>
          </a:p>
          <a:p>
            <a:pPr marL="0" indent="0" algn="ctr">
              <a:buNone/>
            </a:pPr>
            <a:r>
              <a:rPr lang="en-IN" b="1" dirty="0">
                <a:solidFill>
                  <a:schemeClr val="accent1"/>
                </a:solidFill>
                <a:latin typeface="Times New Roman" panose="02020603050405020304" pitchFamily="18" charset="0"/>
                <a:cs typeface="Times New Roman" panose="02020603050405020304" pitchFamily="18" charset="0"/>
              </a:rPr>
              <a:t>On</a:t>
            </a:r>
          </a:p>
          <a:p>
            <a:pPr marL="0" indent="0" algn="ctr">
              <a:buNone/>
            </a:pPr>
            <a:r>
              <a:rPr lang="en-IN" sz="3400" dirty="0">
                <a:latin typeface="Times New Roman" panose="02020603050405020304" pitchFamily="18" charset="0"/>
                <a:cs typeface="Times New Roman" panose="02020603050405020304" pitchFamily="18" charset="0"/>
              </a:rPr>
              <a:t>“</a:t>
            </a:r>
            <a:r>
              <a:rPr lang="en-IN" sz="3400" b="1" dirty="0">
                <a:latin typeface="Times New Roman" panose="02020603050405020304" pitchFamily="18" charset="0"/>
                <a:cs typeface="Times New Roman" panose="02020603050405020304" pitchFamily="18" charset="0"/>
              </a:rPr>
              <a:t>NAVIZIT : THE </a:t>
            </a:r>
            <a:r>
              <a:rPr lang="en-US" sz="3400" b="1" dirty="0">
                <a:latin typeface="Times New Roman" panose="02020603050405020304" pitchFamily="18" charset="0"/>
                <a:cs typeface="Times New Roman" panose="02020603050405020304" pitchFamily="18" charset="0"/>
              </a:rPr>
              <a:t>SMART CITY GUIDE</a:t>
            </a:r>
            <a:r>
              <a:rPr lang="en-IN" sz="3400" dirty="0">
                <a:latin typeface="Times New Roman" panose="02020603050405020304" pitchFamily="18" charset="0"/>
                <a:cs typeface="Times New Roman" panose="02020603050405020304" pitchFamily="18" charset="0"/>
              </a:rPr>
              <a:t>”</a:t>
            </a:r>
          </a:p>
          <a:p>
            <a:pPr marL="0" indent="0" algn="ctr">
              <a:buNone/>
            </a:pPr>
            <a:endParaRPr lang="en-IN" sz="2900" dirty="0">
              <a:latin typeface="Times New Roman" panose="02020603050405020304" pitchFamily="18" charset="0"/>
              <a:cs typeface="Times New Roman" panose="02020603050405020304" pitchFamily="18" charset="0"/>
            </a:endParaRPr>
          </a:p>
          <a:p>
            <a:pPr marL="0" indent="0" algn="ctr">
              <a:buNone/>
            </a:pPr>
            <a:r>
              <a:rPr lang="en-IN" b="1" dirty="0">
                <a:solidFill>
                  <a:schemeClr val="accent1"/>
                </a:solidFill>
                <a:latin typeface="Times New Roman" panose="02020603050405020304" pitchFamily="18" charset="0"/>
                <a:cs typeface="Times New Roman" panose="02020603050405020304" pitchFamily="18" charset="0"/>
              </a:rPr>
              <a:t>Presented By</a:t>
            </a:r>
          </a:p>
          <a:p>
            <a:pPr marL="0" indent="0" algn="ctr">
              <a:buNone/>
            </a:pPr>
            <a:r>
              <a:rPr lang="en-IN" sz="2600" dirty="0">
                <a:latin typeface="Times New Roman" panose="02020603050405020304" pitchFamily="18" charset="0"/>
                <a:cs typeface="Times New Roman" panose="02020603050405020304" pitchFamily="18" charset="0"/>
              </a:rPr>
              <a:t>DNYANESH.S.KHANDEKAR	T.E., Semester 6, Div A, Roll No: 50</a:t>
            </a:r>
            <a:endParaRPr lang="en-IN" sz="2600" b="1" dirty="0">
              <a:latin typeface="Times New Roman" panose="02020603050405020304" pitchFamily="18" charset="0"/>
              <a:cs typeface="Times New Roman" panose="02020603050405020304" pitchFamily="18" charset="0"/>
            </a:endParaRPr>
          </a:p>
          <a:p>
            <a:pPr marL="0" indent="0" algn="ctr">
              <a:buNone/>
            </a:pPr>
            <a:r>
              <a:rPr lang="en-IN" sz="2600" dirty="0">
                <a:latin typeface="Times New Roman" panose="02020603050405020304" pitchFamily="18" charset="0"/>
                <a:cs typeface="Times New Roman" panose="02020603050405020304" pitchFamily="18" charset="0"/>
              </a:rPr>
              <a:t>OMKAR.S.LANDE		T.E., Semester 6, Div A, Roll No:60</a:t>
            </a:r>
          </a:p>
          <a:p>
            <a:pPr marL="0" indent="0" algn="ctr">
              <a:buNone/>
            </a:pPr>
            <a:r>
              <a:rPr lang="en-IN" sz="2600" dirty="0">
                <a:latin typeface="Times New Roman" panose="02020603050405020304" pitchFamily="18" charset="0"/>
                <a:cs typeface="Times New Roman" panose="02020603050405020304" pitchFamily="18" charset="0"/>
              </a:rPr>
              <a:t>PRATIK.D.KHODKA		T.E., Semester 6, Div A, Roll No: 53</a:t>
            </a:r>
          </a:p>
          <a:p>
            <a:pPr marL="0" indent="0" algn="ctr">
              <a:buNone/>
            </a:pPr>
            <a:r>
              <a:rPr lang="en-IN" sz="2600" dirty="0">
                <a:latin typeface="Times New Roman" panose="02020603050405020304" pitchFamily="18" charset="0"/>
                <a:cs typeface="Times New Roman" panose="02020603050405020304" pitchFamily="18" charset="0"/>
              </a:rPr>
              <a:t>SAHIL.R.PAGARE	                T.E., Semester 6, Div B, Roll No: 16</a:t>
            </a:r>
          </a:p>
          <a:p>
            <a:pPr marL="0" indent="0" algn="ctr">
              <a:buNone/>
            </a:pPr>
            <a:endParaRPr lang="en-IN" sz="2900" dirty="0">
              <a:solidFill>
                <a:schemeClr val="tx1"/>
              </a:solidFill>
              <a:latin typeface="Times New Roman" panose="02020603050405020304" pitchFamily="18" charset="0"/>
              <a:cs typeface="Times New Roman" panose="02020603050405020304" pitchFamily="18" charset="0"/>
            </a:endParaRPr>
          </a:p>
          <a:p>
            <a:pPr marL="0" indent="0" algn="ctr">
              <a:buNone/>
            </a:pPr>
            <a:r>
              <a:rPr lang="en-IN" b="1" dirty="0">
                <a:solidFill>
                  <a:schemeClr val="accent1"/>
                </a:solidFill>
                <a:latin typeface="Times New Roman" panose="02020603050405020304" pitchFamily="18" charset="0"/>
                <a:cs typeface="Times New Roman" panose="02020603050405020304" pitchFamily="18" charset="0"/>
              </a:rPr>
              <a:t>Under the Guidance of </a:t>
            </a:r>
          </a:p>
          <a:p>
            <a:pPr marL="0" indent="0" algn="ctr">
              <a:buNone/>
            </a:pPr>
            <a:r>
              <a:rPr lang="en-IN" b="1" dirty="0">
                <a:latin typeface="Times New Roman" panose="02020603050405020304" pitchFamily="18" charset="0"/>
                <a:cs typeface="Times New Roman" panose="02020603050405020304" pitchFamily="18" charset="0"/>
              </a:rPr>
              <a:t>Mrs. Urmila Darekar</a:t>
            </a:r>
          </a:p>
          <a:p>
            <a:pPr marL="0" indent="0" algn="ctr">
              <a:buNone/>
            </a:pP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04" y="116632"/>
            <a:ext cx="1198166" cy="1227528"/>
          </a:xfrm>
          <a:prstGeom prst="rect">
            <a:avLst/>
          </a:prstGeom>
        </p:spPr>
      </p:pic>
      <p:cxnSp>
        <p:nvCxnSpPr>
          <p:cNvPr id="3" name="Straight Connector 2"/>
          <p:cNvCxnSpPr/>
          <p:nvPr/>
        </p:nvCxnSpPr>
        <p:spPr>
          <a:xfrm>
            <a:off x="706587" y="1628800"/>
            <a:ext cx="789786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7770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Content</a:t>
            </a:r>
            <a:endParaRPr lang="en-IN" dirty="0"/>
          </a:p>
        </p:txBody>
      </p:sp>
      <p:sp>
        <p:nvSpPr>
          <p:cNvPr id="3" name="Content Placeholder 2"/>
          <p:cNvSpPr>
            <a:spLocks noGrp="1"/>
          </p:cNvSpPr>
          <p:nvPr>
            <p:ph idx="1"/>
          </p:nvPr>
        </p:nvSpPr>
        <p:spPr>
          <a:xfrm>
            <a:off x="457200" y="1600200"/>
            <a:ext cx="8229600" cy="4565104"/>
          </a:xfrm>
        </p:spPr>
        <p:txBody>
          <a:bodyPr>
            <a:normAutofit fontScale="77500" lnSpcReduction="20000"/>
          </a:bodyPr>
          <a:lstStyle/>
          <a:p>
            <a:pPr algn="just">
              <a:lnSpc>
                <a:spcPct val="12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Introduction</a:t>
            </a:r>
          </a:p>
          <a:p>
            <a:pPr marL="0" indent="0" algn="just">
              <a:lnSpc>
                <a:spcPct val="120000"/>
              </a:lnSpc>
              <a:buNone/>
            </a:pPr>
            <a:endParaRPr lang="en-IN" sz="2000" b="1" dirty="0">
              <a:latin typeface="Times New Roman" panose="02020603050405020304" pitchFamily="18" charset="0"/>
              <a:cs typeface="Times New Roman" panose="02020603050405020304" pitchFamily="18" charset="0"/>
            </a:endParaRPr>
          </a:p>
          <a:p>
            <a:pPr algn="just">
              <a:lnSpc>
                <a:spcPct val="12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Literature Review</a:t>
            </a:r>
          </a:p>
          <a:p>
            <a:pPr algn="just">
              <a:lnSpc>
                <a:spcPct val="120000"/>
              </a:lnSpc>
              <a:buFont typeface="Wingdings" panose="05000000000000000000" pitchFamily="2" charset="2"/>
              <a:buChar char="Ø"/>
            </a:pPr>
            <a:endParaRPr lang="en-IN" sz="2000" b="1" dirty="0">
              <a:latin typeface="Times New Roman" panose="02020603050405020304" pitchFamily="18" charset="0"/>
              <a:cs typeface="Times New Roman" panose="02020603050405020304" pitchFamily="18" charset="0"/>
            </a:endParaRPr>
          </a:p>
          <a:p>
            <a:pPr algn="just">
              <a:lnSpc>
                <a:spcPct val="12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Problem Definition</a:t>
            </a:r>
          </a:p>
          <a:p>
            <a:pPr marL="0" indent="0" algn="just">
              <a:lnSpc>
                <a:spcPct val="120000"/>
              </a:lnSpc>
              <a:buNone/>
            </a:pPr>
            <a:endParaRPr lang="en-IN" sz="2000" b="1" dirty="0">
              <a:latin typeface="Times New Roman" panose="02020603050405020304" pitchFamily="18" charset="0"/>
              <a:cs typeface="Times New Roman" panose="02020603050405020304" pitchFamily="18" charset="0"/>
            </a:endParaRPr>
          </a:p>
          <a:p>
            <a:pPr algn="just">
              <a:lnSpc>
                <a:spcPct val="12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Aim and Objectives</a:t>
            </a:r>
          </a:p>
          <a:p>
            <a:pPr marL="0" indent="0" algn="just">
              <a:lnSpc>
                <a:spcPct val="120000"/>
              </a:lnSpc>
              <a:buNone/>
            </a:pPr>
            <a:endParaRPr lang="en-IN" sz="2000" b="1" dirty="0">
              <a:latin typeface="Times New Roman" panose="02020603050405020304" pitchFamily="18" charset="0"/>
              <a:cs typeface="Times New Roman" panose="02020603050405020304" pitchFamily="18" charset="0"/>
            </a:endParaRPr>
          </a:p>
          <a:p>
            <a:pPr algn="just">
              <a:lnSpc>
                <a:spcPct val="12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Proposed Methodology</a:t>
            </a:r>
          </a:p>
          <a:p>
            <a:pPr algn="just">
              <a:lnSpc>
                <a:spcPct val="120000"/>
              </a:lnSpc>
              <a:buFont typeface="Wingdings" panose="05000000000000000000" pitchFamily="2" charset="2"/>
              <a:buChar char="Ø"/>
            </a:pPr>
            <a:endParaRPr lang="en-IN" sz="2000" b="1" dirty="0">
              <a:latin typeface="Times New Roman" panose="02020603050405020304" pitchFamily="18" charset="0"/>
              <a:cs typeface="Times New Roman" panose="02020603050405020304" pitchFamily="18" charset="0"/>
            </a:endParaRPr>
          </a:p>
          <a:p>
            <a:pPr algn="just">
              <a:lnSpc>
                <a:spcPct val="12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Tech Stack</a:t>
            </a:r>
          </a:p>
          <a:p>
            <a:pPr marL="0" indent="0" algn="just">
              <a:lnSpc>
                <a:spcPct val="120000"/>
              </a:lnSpc>
              <a:buNone/>
            </a:pPr>
            <a:endParaRPr lang="en-IN" sz="2000" b="1" dirty="0">
              <a:latin typeface="Times New Roman" panose="02020603050405020304" pitchFamily="18" charset="0"/>
              <a:cs typeface="Times New Roman" panose="02020603050405020304" pitchFamily="18" charset="0"/>
            </a:endParaRPr>
          </a:p>
          <a:p>
            <a:pPr algn="just">
              <a:lnSpc>
                <a:spcPct val="12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Time Frame</a:t>
            </a:r>
          </a:p>
          <a:p>
            <a:pPr marL="0" indent="0" algn="just">
              <a:lnSpc>
                <a:spcPct val="120000"/>
              </a:lnSpc>
              <a:buNone/>
            </a:pPr>
            <a:endParaRPr lang="en-IN" sz="2000" b="1" dirty="0">
              <a:latin typeface="Times New Roman" panose="02020603050405020304" pitchFamily="18" charset="0"/>
              <a:cs typeface="Times New Roman" panose="02020603050405020304" pitchFamily="18" charset="0"/>
            </a:endParaRPr>
          </a:p>
          <a:p>
            <a:pPr algn="just">
              <a:lnSpc>
                <a:spcPct val="12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870419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u="sng" dirty="0">
                <a:latin typeface="Times New Roman" panose="02020603050405020304" pitchFamily="18" charset="0"/>
                <a:cs typeface="Times New Roman" panose="02020603050405020304" pitchFamily="18" charset="0"/>
              </a:rPr>
              <a:t>Introduction</a:t>
            </a:r>
            <a:endParaRPr lang="en-IN" u="sng" dirty="0"/>
          </a:p>
        </p:txBody>
      </p:sp>
      <p:sp>
        <p:nvSpPr>
          <p:cNvPr id="3" name="Content Placeholder 2"/>
          <p:cNvSpPr>
            <a:spLocks noGrp="1"/>
          </p:cNvSpPr>
          <p:nvPr>
            <p:ph idx="1"/>
          </p:nvPr>
        </p:nvSpPr>
        <p:spPr>
          <a:xfrm>
            <a:off x="457200" y="1417638"/>
            <a:ext cx="8229600" cy="5165724"/>
          </a:xfrm>
        </p:spPr>
        <p:txBody>
          <a:bodyPr>
            <a:noAutofit/>
          </a:bodyPr>
          <a:lstStyle/>
          <a:p>
            <a:pPr algn="just" fontAlgn="base">
              <a:lnSpc>
                <a:spcPct val="150000"/>
              </a:lnSpc>
            </a:pPr>
            <a:r>
              <a:rPr lang="en-US" sz="1600" dirty="0">
                <a:effectLst/>
                <a:latin typeface="Times New Roman" panose="02020603050405020304" pitchFamily="18" charset="0"/>
                <a:cs typeface="Times New Roman" panose="02020603050405020304" pitchFamily="18" charset="0"/>
              </a:rPr>
              <a:t>The Smart Tourist Guide System for Mumbai City is a web-based platform designed to help tourists explore Mumbai with ease. This system offers tools like location search, weather condition, and enriched information about various attractions. Unlike basic mapping services, it provides detailed textual and pictorial content, helping tourists discover unique spots in the city.</a:t>
            </a:r>
          </a:p>
          <a:p>
            <a:pPr algn="just" fontAlgn="base">
              <a:lnSpc>
                <a:spcPct val="150000"/>
              </a:lnSpc>
            </a:pPr>
            <a:r>
              <a:rPr lang="en-US" sz="1600" dirty="0">
                <a:effectLst/>
                <a:latin typeface="Times New Roman" panose="02020603050405020304" pitchFamily="18" charset="0"/>
                <a:cs typeface="Times New Roman" panose="02020603050405020304" pitchFamily="18" charset="0"/>
              </a:rPr>
              <a:t>Mumbai, known for its cultural richness and vibrant life, draws millions of visitors annually. The Smart Tourist Guide System enhances the travel experience by offering real-time information. It serves as a cost-effective alternative to traditional guides, enabling tourists to navigate the city confidently.</a:t>
            </a:r>
          </a:p>
          <a:p>
            <a:pPr algn="just" fontAlgn="base">
              <a:lnSpc>
                <a:spcPct val="150000"/>
              </a:lnSpc>
            </a:pPr>
            <a:r>
              <a:rPr lang="en-US" sz="1600" dirty="0">
                <a:latin typeface="Times New Roman" panose="02020603050405020304" pitchFamily="18" charset="0"/>
                <a:cs typeface="Times New Roman" panose="02020603050405020304" pitchFamily="18" charset="0"/>
              </a:rPr>
              <a:t>The Recommendation System in the Smart Tourist Guide suggests places to users based on their preferences and interests. It enhances the travel experience by providing personalized recommendations, making city exploration more efficient and enjoyable.</a:t>
            </a:r>
            <a:endParaRPr lang="en-US" sz="16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8276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5BA1464-31D9-B2A6-0106-269C17F2B558}"/>
              </a:ext>
            </a:extLst>
          </p:cNvPr>
          <p:cNvSpPr>
            <a:spLocks noGrp="1"/>
          </p:cNvSpPr>
          <p:nvPr>
            <p:ph type="title"/>
          </p:nvPr>
        </p:nvSpPr>
        <p:spPr>
          <a:xfrm>
            <a:off x="457200" y="274638"/>
            <a:ext cx="8229600" cy="1143000"/>
          </a:xfrm>
        </p:spPr>
        <p:txBody>
          <a:bodyPr>
            <a:normAutofit/>
          </a:bodyPr>
          <a:lstStyle/>
          <a:p>
            <a:r>
              <a:rPr lang="en-IN" b="1" u="sng" dirty="0">
                <a:latin typeface="Times New Roman" panose="02020603050405020304" pitchFamily="18" charset="0"/>
                <a:cs typeface="Times New Roman" panose="02020603050405020304" pitchFamily="18" charset="0"/>
              </a:rPr>
              <a:t>Literature Review</a:t>
            </a:r>
          </a:p>
        </p:txBody>
      </p:sp>
      <p:graphicFrame>
        <p:nvGraphicFramePr>
          <p:cNvPr id="6" name="Table 5">
            <a:extLst>
              <a:ext uri="{FF2B5EF4-FFF2-40B4-BE49-F238E27FC236}">
                <a16:creationId xmlns:a16="http://schemas.microsoft.com/office/drawing/2014/main" id="{604082D1-C6CA-A54F-64FC-DC4E54B01592}"/>
              </a:ext>
            </a:extLst>
          </p:cNvPr>
          <p:cNvGraphicFramePr>
            <a:graphicFrameLocks noGrp="1"/>
          </p:cNvGraphicFramePr>
          <p:nvPr>
            <p:extLst>
              <p:ext uri="{D42A27DB-BD31-4B8C-83A1-F6EECF244321}">
                <p14:modId xmlns:p14="http://schemas.microsoft.com/office/powerpoint/2010/main" val="1561411571"/>
              </p:ext>
            </p:extLst>
          </p:nvPr>
        </p:nvGraphicFramePr>
        <p:xfrm>
          <a:off x="228600" y="1524000"/>
          <a:ext cx="8686800" cy="4790903"/>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364939840"/>
                    </a:ext>
                  </a:extLst>
                </a:gridCol>
                <a:gridCol w="1676400">
                  <a:extLst>
                    <a:ext uri="{9D8B030D-6E8A-4147-A177-3AD203B41FA5}">
                      <a16:colId xmlns:a16="http://schemas.microsoft.com/office/drawing/2014/main" val="1630402810"/>
                    </a:ext>
                  </a:extLst>
                </a:gridCol>
                <a:gridCol w="1828800">
                  <a:extLst>
                    <a:ext uri="{9D8B030D-6E8A-4147-A177-3AD203B41FA5}">
                      <a16:colId xmlns:a16="http://schemas.microsoft.com/office/drawing/2014/main" val="1626426034"/>
                    </a:ext>
                  </a:extLst>
                </a:gridCol>
                <a:gridCol w="1600200">
                  <a:extLst>
                    <a:ext uri="{9D8B030D-6E8A-4147-A177-3AD203B41FA5}">
                      <a16:colId xmlns:a16="http://schemas.microsoft.com/office/drawing/2014/main" val="1758673376"/>
                    </a:ext>
                  </a:extLst>
                </a:gridCol>
                <a:gridCol w="3048000">
                  <a:extLst>
                    <a:ext uri="{9D8B030D-6E8A-4147-A177-3AD203B41FA5}">
                      <a16:colId xmlns:a16="http://schemas.microsoft.com/office/drawing/2014/main" val="2442495926"/>
                    </a:ext>
                  </a:extLst>
                </a:gridCol>
              </a:tblGrid>
              <a:tr h="914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t>SR .NO</a:t>
                      </a:r>
                      <a:endParaRPr lang="en-IN" sz="1700" dirty="0"/>
                    </a:p>
                    <a:p>
                      <a:endParaRPr lang="en-IN" sz="1700" dirty="0"/>
                    </a:p>
                  </a:txBody>
                  <a:tcPr marT="41564" marB="4156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t>AUTHORS</a:t>
                      </a:r>
                      <a:endParaRPr lang="en-IN" sz="1700" dirty="0"/>
                    </a:p>
                    <a:p>
                      <a:endParaRPr lang="en-IN" sz="1700" dirty="0"/>
                    </a:p>
                  </a:txBody>
                  <a:tcPr marT="41564" marB="4156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t>TITLE</a:t>
                      </a:r>
                      <a:endParaRPr lang="en-IN" sz="1700" dirty="0"/>
                    </a:p>
                    <a:p>
                      <a:endParaRPr lang="en-IN" sz="1700" dirty="0"/>
                    </a:p>
                  </a:txBody>
                  <a:tcPr marT="41564" marB="41564"/>
                </a:tc>
                <a:tc>
                  <a:txBody>
                    <a:bodyPr/>
                    <a:lstStyle/>
                    <a:p>
                      <a:r>
                        <a:rPr lang="en-US" sz="1700" dirty="0"/>
                        <a:t>NAME OF JOURNAL/</a:t>
                      </a:r>
                    </a:p>
                    <a:p>
                      <a:r>
                        <a:rPr lang="en-US" sz="1700" dirty="0"/>
                        <a:t>PAPER</a:t>
                      </a:r>
                      <a:endParaRPr lang="en-IN" sz="1700" dirty="0"/>
                    </a:p>
                    <a:p>
                      <a:endParaRPr lang="en-IN" sz="1700" dirty="0"/>
                    </a:p>
                  </a:txBody>
                  <a:tcPr marT="41564" marB="4156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t>FINDINGS</a:t>
                      </a:r>
                      <a:endParaRPr lang="en-IN" sz="1700" dirty="0"/>
                    </a:p>
                    <a:p>
                      <a:endParaRPr lang="en-IN" sz="1700" dirty="0"/>
                    </a:p>
                  </a:txBody>
                  <a:tcPr marT="41564" marB="41564"/>
                </a:tc>
                <a:extLst>
                  <a:ext uri="{0D108BD9-81ED-4DB2-BD59-A6C34878D82A}">
                    <a16:rowId xmlns:a16="http://schemas.microsoft.com/office/drawing/2014/main" val="3814177412"/>
                  </a:ext>
                </a:extLst>
              </a:tr>
              <a:tr h="1745673">
                <a:tc>
                  <a:txBody>
                    <a:bodyPr/>
                    <a:lstStyle/>
                    <a:p>
                      <a:r>
                        <a:rPr lang="en-US" sz="1700" dirty="0"/>
                        <a:t>1.</a:t>
                      </a:r>
                      <a:endParaRPr lang="en-IN" sz="1700" dirty="0"/>
                    </a:p>
                  </a:txBody>
                  <a:tcPr marT="41564" marB="41564"/>
                </a:tc>
                <a:tc>
                  <a:txBody>
                    <a:bodyPr/>
                    <a:lstStyle/>
                    <a:p>
                      <a:r>
                        <a:rPr lang="en-IN" sz="1700" dirty="0"/>
                        <a:t>NB Nugraha, E Alimudin.</a:t>
                      </a:r>
                    </a:p>
                  </a:txBody>
                  <a:tcPr marT="41564" marB="41564"/>
                </a:tc>
                <a:tc>
                  <a:txBody>
                    <a:bodyPr/>
                    <a:lstStyle/>
                    <a:p>
                      <a:r>
                        <a:rPr lang="en-US" sz="1800" dirty="0"/>
                        <a:t>Tourist guide in Pekanbaru City.</a:t>
                      </a:r>
                      <a:endParaRPr lang="en-IN" sz="1800" dirty="0"/>
                    </a:p>
                  </a:txBody>
                  <a:tcPr marT="41564" marB="41564"/>
                </a:tc>
                <a:tc>
                  <a:txBody>
                    <a:bodyPr/>
                    <a:lstStyle/>
                    <a:p>
                      <a:r>
                        <a:rPr lang="en-US" sz="1800" dirty="0"/>
                        <a:t>Journal of Physics: Conference Series 1430 (1), 012038, 2020</a:t>
                      </a:r>
                      <a:endParaRPr lang="en-IN" sz="1800" dirty="0"/>
                    </a:p>
                  </a:txBody>
                  <a:tcPr marT="41564" marB="41564"/>
                </a:tc>
                <a:tc>
                  <a:txBody>
                    <a:bodyPr/>
                    <a:lstStyle/>
                    <a:p>
                      <a:r>
                        <a:rPr lang="en-US" sz="1700" dirty="0"/>
                        <a:t>The system will use GPS to find the user point and can provide information about tourist attractions, hotels, restaurants and </a:t>
                      </a:r>
                      <a:r>
                        <a:rPr lang="en-US" sz="1700" dirty="0" err="1"/>
                        <a:t>shopping.Google</a:t>
                      </a:r>
                      <a:r>
                        <a:rPr lang="en-US" sz="1700" dirty="0"/>
                        <a:t> Maps API </a:t>
                      </a:r>
                    </a:p>
                    <a:p>
                      <a:r>
                        <a:rPr lang="en-US" sz="1700" dirty="0"/>
                        <a:t>Was used.</a:t>
                      </a:r>
                      <a:endParaRPr lang="en-IN" sz="1700" dirty="0"/>
                    </a:p>
                  </a:txBody>
                  <a:tcPr marT="41564" marB="41564"/>
                </a:tc>
                <a:extLst>
                  <a:ext uri="{0D108BD9-81ED-4DB2-BD59-A6C34878D82A}">
                    <a16:rowId xmlns:a16="http://schemas.microsoft.com/office/drawing/2014/main" val="3691414872"/>
                  </a:ext>
                </a:extLst>
              </a:tr>
              <a:tr h="1925782">
                <a:tc>
                  <a:txBody>
                    <a:bodyPr/>
                    <a:lstStyle/>
                    <a:p>
                      <a:r>
                        <a:rPr lang="en-US" sz="1700" dirty="0"/>
                        <a:t>2.</a:t>
                      </a:r>
                      <a:endParaRPr lang="en-IN" sz="1700" dirty="0"/>
                    </a:p>
                  </a:txBody>
                  <a:tcPr marT="41564" marB="41564"/>
                </a:tc>
                <a:tc>
                  <a:txBody>
                    <a:bodyPr/>
                    <a:lstStyle/>
                    <a:p>
                      <a:r>
                        <a:rPr lang="pt-BR" sz="1800" dirty="0"/>
                        <a:t>Rigobert Francis Buberwa, Anastazia Msusa.</a:t>
                      </a:r>
                      <a:endParaRPr lang="en-IN" sz="1800" dirty="0"/>
                    </a:p>
                  </a:txBody>
                  <a:tcPr marT="41564" marB="4156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 Mobile gis tour guide app for dar-es-salaam city, Tanzania.</a:t>
                      </a:r>
                    </a:p>
                  </a:txBody>
                  <a:tcPr marT="41564" marB="41564"/>
                </a:tc>
                <a:tc>
                  <a:txBody>
                    <a:bodyPr/>
                    <a:lstStyle/>
                    <a:p>
                      <a:r>
                        <a:rPr lang="en-US" sz="1700" b="0" i="0" kern="1200" dirty="0">
                          <a:solidFill>
                            <a:schemeClr val="dk1"/>
                          </a:solidFill>
                          <a:effectLst/>
                          <a:latin typeface="+mn-lt"/>
                          <a:ea typeface="+mn-ea"/>
                          <a:cs typeface="+mn-cs"/>
                        </a:rPr>
                        <a:t>International Journal of Scientific and Technology Research 8 (4), 237-242, 2019</a:t>
                      </a:r>
                    </a:p>
                  </a:txBody>
                  <a:tcPr marT="41564" marB="41564"/>
                </a:tc>
                <a:tc>
                  <a:txBody>
                    <a:bodyPr/>
                    <a:lstStyle/>
                    <a:p>
                      <a:r>
                        <a:rPr lang="en-US" sz="1700" dirty="0"/>
                        <a:t>"GIS and ICT Integration for Urban Navigation" shows that using these technologies together improves navigation in places with limited information.</a:t>
                      </a:r>
                    </a:p>
                    <a:p>
                      <a:r>
                        <a:rPr lang="en-US" sz="1700" dirty="0"/>
                        <a:t>KNN algorithm was used.</a:t>
                      </a:r>
                      <a:endParaRPr lang="en-IN" sz="1700" dirty="0"/>
                    </a:p>
                  </a:txBody>
                  <a:tcPr marT="41564" marB="41564"/>
                </a:tc>
                <a:extLst>
                  <a:ext uri="{0D108BD9-81ED-4DB2-BD59-A6C34878D82A}">
                    <a16:rowId xmlns:a16="http://schemas.microsoft.com/office/drawing/2014/main" val="1196280210"/>
                  </a:ext>
                </a:extLst>
              </a:tr>
            </a:tbl>
          </a:graphicData>
        </a:graphic>
      </p:graphicFrame>
    </p:spTree>
    <p:extLst>
      <p:ext uri="{BB962C8B-B14F-4D97-AF65-F5344CB8AC3E}">
        <p14:creationId xmlns:p14="http://schemas.microsoft.com/office/powerpoint/2010/main" val="2511219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CF5D9CD-41BB-4CE7-1CFD-A28BAC66171D}"/>
              </a:ext>
            </a:extLst>
          </p:cNvPr>
          <p:cNvGraphicFramePr>
            <a:graphicFrameLocks noGrp="1"/>
          </p:cNvGraphicFramePr>
          <p:nvPr>
            <p:extLst>
              <p:ext uri="{D42A27DB-BD31-4B8C-83A1-F6EECF244321}">
                <p14:modId xmlns:p14="http://schemas.microsoft.com/office/powerpoint/2010/main" val="3866630390"/>
              </p:ext>
            </p:extLst>
          </p:nvPr>
        </p:nvGraphicFramePr>
        <p:xfrm>
          <a:off x="228600" y="962890"/>
          <a:ext cx="8686800" cy="4790903"/>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364939840"/>
                    </a:ext>
                  </a:extLst>
                </a:gridCol>
                <a:gridCol w="1676400">
                  <a:extLst>
                    <a:ext uri="{9D8B030D-6E8A-4147-A177-3AD203B41FA5}">
                      <a16:colId xmlns:a16="http://schemas.microsoft.com/office/drawing/2014/main" val="1630402810"/>
                    </a:ext>
                  </a:extLst>
                </a:gridCol>
                <a:gridCol w="1828800">
                  <a:extLst>
                    <a:ext uri="{9D8B030D-6E8A-4147-A177-3AD203B41FA5}">
                      <a16:colId xmlns:a16="http://schemas.microsoft.com/office/drawing/2014/main" val="1626426034"/>
                    </a:ext>
                  </a:extLst>
                </a:gridCol>
                <a:gridCol w="1600200">
                  <a:extLst>
                    <a:ext uri="{9D8B030D-6E8A-4147-A177-3AD203B41FA5}">
                      <a16:colId xmlns:a16="http://schemas.microsoft.com/office/drawing/2014/main" val="1758673376"/>
                    </a:ext>
                  </a:extLst>
                </a:gridCol>
                <a:gridCol w="3048000">
                  <a:extLst>
                    <a:ext uri="{9D8B030D-6E8A-4147-A177-3AD203B41FA5}">
                      <a16:colId xmlns:a16="http://schemas.microsoft.com/office/drawing/2014/main" val="2442495926"/>
                    </a:ext>
                  </a:extLst>
                </a:gridCol>
              </a:tblGrid>
              <a:tr h="914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t>SR .NO</a:t>
                      </a:r>
                      <a:endParaRPr lang="en-IN" sz="1700" dirty="0"/>
                    </a:p>
                    <a:p>
                      <a:endParaRPr lang="en-IN" sz="1700" dirty="0"/>
                    </a:p>
                  </a:txBody>
                  <a:tcPr marT="41564" marB="4156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t>AUTHORS</a:t>
                      </a:r>
                      <a:endParaRPr lang="en-IN" sz="1700" dirty="0"/>
                    </a:p>
                    <a:p>
                      <a:endParaRPr lang="en-IN" sz="1700" dirty="0"/>
                    </a:p>
                  </a:txBody>
                  <a:tcPr marT="41564" marB="4156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t>TITLE</a:t>
                      </a:r>
                      <a:endParaRPr lang="en-IN" sz="1700" dirty="0"/>
                    </a:p>
                    <a:p>
                      <a:endParaRPr lang="en-IN" sz="1700" dirty="0"/>
                    </a:p>
                  </a:txBody>
                  <a:tcPr marT="41564" marB="41564"/>
                </a:tc>
                <a:tc>
                  <a:txBody>
                    <a:bodyPr/>
                    <a:lstStyle/>
                    <a:p>
                      <a:r>
                        <a:rPr lang="en-US" sz="1700" dirty="0"/>
                        <a:t>NAME OF JOURNAL/</a:t>
                      </a:r>
                    </a:p>
                    <a:p>
                      <a:r>
                        <a:rPr lang="en-US" sz="1700" dirty="0"/>
                        <a:t>PAPER</a:t>
                      </a:r>
                      <a:endParaRPr lang="en-IN" sz="1700" dirty="0"/>
                    </a:p>
                    <a:p>
                      <a:endParaRPr lang="en-IN" sz="1700" dirty="0"/>
                    </a:p>
                  </a:txBody>
                  <a:tcPr marT="41564" marB="4156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t>FINDING</a:t>
                      </a:r>
                      <a:r>
                        <a:rPr lang="en-IN" sz="1700" dirty="0"/>
                        <a:t>S</a:t>
                      </a:r>
                    </a:p>
                  </a:txBody>
                  <a:tcPr marT="41564" marB="41564"/>
                </a:tc>
                <a:extLst>
                  <a:ext uri="{0D108BD9-81ED-4DB2-BD59-A6C34878D82A}">
                    <a16:rowId xmlns:a16="http://schemas.microsoft.com/office/drawing/2014/main" val="3814177412"/>
                  </a:ext>
                </a:extLst>
              </a:tr>
              <a:tr h="1745673">
                <a:tc>
                  <a:txBody>
                    <a:bodyPr/>
                    <a:lstStyle/>
                    <a:p>
                      <a:r>
                        <a:rPr lang="en-US" dirty="0"/>
                        <a:t>3.</a:t>
                      </a:r>
                      <a:endParaRPr lang="en-IN" dirty="0"/>
                    </a:p>
                  </a:txBody>
                  <a:tcPr/>
                </a:tc>
                <a:tc>
                  <a:txBody>
                    <a:bodyPr/>
                    <a:lstStyle/>
                    <a:p>
                      <a:r>
                        <a:rPr lang="en-IN" dirty="0"/>
                        <a:t>U Nurhasan, H Pradibta, SB Suryadi, A Alfinda.</a:t>
                      </a:r>
                    </a:p>
                  </a:txBody>
                  <a:tcPr/>
                </a:tc>
                <a:tc>
                  <a:txBody>
                    <a:bodyPr/>
                    <a:lstStyle/>
                    <a:p>
                      <a:r>
                        <a:rPr lang="en-US" dirty="0"/>
                        <a:t>Malang city tourism potential using hybrid technology.</a:t>
                      </a:r>
                      <a:endParaRPr lang="en-IN" dirty="0"/>
                    </a:p>
                  </a:txBody>
                  <a:tcPr/>
                </a:tc>
                <a:tc>
                  <a:txBody>
                    <a:bodyPr/>
                    <a:lstStyle/>
                    <a:p>
                      <a:r>
                        <a:rPr lang="en-US" dirty="0"/>
                        <a:t>Journal of Physics: Conference Series 1402 (6), 066051, 2019.</a:t>
                      </a:r>
                      <a:endParaRPr lang="en-IN" dirty="0"/>
                    </a:p>
                  </a:txBody>
                  <a:tcPr/>
                </a:tc>
                <a:tc>
                  <a:txBody>
                    <a:bodyPr/>
                    <a:lstStyle/>
                    <a:p>
                      <a:r>
                        <a:rPr lang="en-US" dirty="0"/>
                        <a:t>Augmented reality effectively provides detailed and interactive information about local attractions in 3D visual </a:t>
                      </a:r>
                      <a:r>
                        <a:rPr lang="en-US" dirty="0" err="1"/>
                        <a:t>format.Framework</a:t>
                      </a:r>
                      <a:r>
                        <a:rPr lang="en-US" dirty="0"/>
                        <a:t> likes AR.js</a:t>
                      </a:r>
                    </a:p>
                    <a:p>
                      <a:r>
                        <a:rPr lang="en-US" dirty="0"/>
                        <a:t>Or 8</a:t>
                      </a:r>
                      <a:r>
                        <a:rPr lang="en-US" baseline="30000" dirty="0"/>
                        <a:t>th</a:t>
                      </a:r>
                      <a:r>
                        <a:rPr lang="en-US" dirty="0"/>
                        <a:t> wall.</a:t>
                      </a:r>
                      <a:endParaRPr lang="en-IN" dirty="0"/>
                    </a:p>
                  </a:txBody>
                  <a:tcPr/>
                </a:tc>
                <a:extLst>
                  <a:ext uri="{0D108BD9-81ED-4DB2-BD59-A6C34878D82A}">
                    <a16:rowId xmlns:a16="http://schemas.microsoft.com/office/drawing/2014/main" val="3691414872"/>
                  </a:ext>
                </a:extLst>
              </a:tr>
              <a:tr h="1925782">
                <a:tc>
                  <a:txBody>
                    <a:bodyPr/>
                    <a:lstStyle/>
                    <a:p>
                      <a:r>
                        <a:rPr lang="en-US" sz="1700" dirty="0"/>
                        <a:t>4.</a:t>
                      </a:r>
                      <a:endParaRPr lang="en-IN" sz="1700" dirty="0"/>
                    </a:p>
                  </a:txBody>
                  <a:tcPr marT="41564" marB="41564"/>
                </a:tc>
                <a:tc>
                  <a:txBody>
                    <a:bodyPr/>
                    <a:lstStyle/>
                    <a:p>
                      <a:r>
                        <a:rPr lang="en-IN" sz="1800" b="0" i="0" kern="1200" dirty="0">
                          <a:solidFill>
                            <a:schemeClr val="dk1"/>
                          </a:solidFill>
                          <a:effectLst/>
                          <a:latin typeface="+mn-lt"/>
                          <a:ea typeface="+mn-ea"/>
                          <a:cs typeface="+mn-cs"/>
                        </a:rPr>
                        <a:t>Chavan R, Bhoir M, Sapkale G, Mhatre A. </a:t>
                      </a:r>
                      <a:endParaRPr lang="en-IN" dirty="0"/>
                    </a:p>
                  </a:txBody>
                  <a:tcPr/>
                </a:tc>
                <a:tc>
                  <a:txBody>
                    <a:bodyPr/>
                    <a:lstStyle/>
                    <a:p>
                      <a:r>
                        <a:rPr lang="en-IN" sz="2000" dirty="0"/>
                        <a:t>Smart Tourist Guide System.</a:t>
                      </a:r>
                    </a:p>
                  </a:txBody>
                  <a:tcPr/>
                </a:tc>
                <a:tc>
                  <a:txBody>
                    <a:bodyPr/>
                    <a:lstStyle/>
                    <a:p>
                      <a:r>
                        <a:rPr lang="en-IN" sz="2000" b="0" i="0" kern="1200" dirty="0">
                          <a:solidFill>
                            <a:schemeClr val="dk1"/>
                          </a:solidFill>
                          <a:effectLst/>
                          <a:latin typeface="+mn-lt"/>
                          <a:ea typeface="+mn-ea"/>
                          <a:cs typeface="+mn-cs"/>
                        </a:rPr>
                        <a:t>Engpaper Journal.</a:t>
                      </a:r>
                      <a:endParaRPr lang="en-IN" sz="2000" dirty="0"/>
                    </a:p>
                  </a:txBody>
                  <a:tcPr/>
                </a:tc>
                <a:tc>
                  <a:txBody>
                    <a:bodyPr/>
                    <a:lstStyle/>
                    <a:p>
                      <a:r>
                        <a:rPr lang="en-US" sz="1700" dirty="0"/>
                        <a:t>Providing detailed location information, distance calculations, and weather updates, making it a cost-effective alternative to traditional </a:t>
                      </a:r>
                      <a:r>
                        <a:rPr lang="en-US" sz="1700" dirty="0" err="1"/>
                        <a:t>guides.GPS</a:t>
                      </a:r>
                      <a:r>
                        <a:rPr lang="en-US" sz="1700" dirty="0"/>
                        <a:t> was used.</a:t>
                      </a:r>
                      <a:endParaRPr lang="en-IN" sz="1700" dirty="0"/>
                    </a:p>
                  </a:txBody>
                  <a:tcPr marT="41564" marB="41564"/>
                </a:tc>
                <a:extLst>
                  <a:ext uri="{0D108BD9-81ED-4DB2-BD59-A6C34878D82A}">
                    <a16:rowId xmlns:a16="http://schemas.microsoft.com/office/drawing/2014/main" val="1196280210"/>
                  </a:ext>
                </a:extLst>
              </a:tr>
            </a:tbl>
          </a:graphicData>
        </a:graphic>
      </p:graphicFrame>
    </p:spTree>
    <p:extLst>
      <p:ext uri="{BB962C8B-B14F-4D97-AF65-F5344CB8AC3E}">
        <p14:creationId xmlns:p14="http://schemas.microsoft.com/office/powerpoint/2010/main" val="2557927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B1EF998-48DD-27AC-92C6-05DFEC88A06F}"/>
              </a:ext>
            </a:extLst>
          </p:cNvPr>
          <p:cNvGraphicFramePr>
            <a:graphicFrameLocks noGrp="1"/>
          </p:cNvGraphicFramePr>
          <p:nvPr>
            <p:ph idx="1"/>
            <p:extLst>
              <p:ext uri="{D42A27DB-BD31-4B8C-83A1-F6EECF244321}">
                <p14:modId xmlns:p14="http://schemas.microsoft.com/office/powerpoint/2010/main" val="612902956"/>
              </p:ext>
            </p:extLst>
          </p:nvPr>
        </p:nvGraphicFramePr>
        <p:xfrm>
          <a:off x="152400" y="914400"/>
          <a:ext cx="8724900" cy="5506192"/>
        </p:xfrm>
        <a:graphic>
          <a:graphicData uri="http://schemas.openxmlformats.org/drawingml/2006/table">
            <a:tbl>
              <a:tblPr firstRow="1" bandRow="1">
                <a:tableStyleId>{5C22544A-7EE6-4342-B048-85BDC9FD1C3A}</a:tableStyleId>
              </a:tblPr>
              <a:tblGrid>
                <a:gridCol w="606950">
                  <a:extLst>
                    <a:ext uri="{9D8B030D-6E8A-4147-A177-3AD203B41FA5}">
                      <a16:colId xmlns:a16="http://schemas.microsoft.com/office/drawing/2014/main" val="4055765747"/>
                    </a:ext>
                  </a:extLst>
                </a:gridCol>
                <a:gridCol w="1896717">
                  <a:extLst>
                    <a:ext uri="{9D8B030D-6E8A-4147-A177-3AD203B41FA5}">
                      <a16:colId xmlns:a16="http://schemas.microsoft.com/office/drawing/2014/main" val="1086694695"/>
                    </a:ext>
                  </a:extLst>
                </a:gridCol>
                <a:gridCol w="2351930">
                  <a:extLst>
                    <a:ext uri="{9D8B030D-6E8A-4147-A177-3AD203B41FA5}">
                      <a16:colId xmlns:a16="http://schemas.microsoft.com/office/drawing/2014/main" val="2543590403"/>
                    </a:ext>
                  </a:extLst>
                </a:gridCol>
                <a:gridCol w="1669111">
                  <a:extLst>
                    <a:ext uri="{9D8B030D-6E8A-4147-A177-3AD203B41FA5}">
                      <a16:colId xmlns:a16="http://schemas.microsoft.com/office/drawing/2014/main" val="419888178"/>
                    </a:ext>
                  </a:extLst>
                </a:gridCol>
                <a:gridCol w="2200192">
                  <a:extLst>
                    <a:ext uri="{9D8B030D-6E8A-4147-A177-3AD203B41FA5}">
                      <a16:colId xmlns:a16="http://schemas.microsoft.com/office/drawing/2014/main" val="2280928202"/>
                    </a:ext>
                  </a:extLst>
                </a:gridCol>
              </a:tblGrid>
              <a:tr h="990600">
                <a:tc>
                  <a:txBody>
                    <a:bodyPr/>
                    <a:lstStyle/>
                    <a:p>
                      <a:r>
                        <a:rPr lang="en-US" dirty="0"/>
                        <a:t>SR</a:t>
                      </a:r>
                    </a:p>
                    <a:p>
                      <a:r>
                        <a:rPr lang="en-US" dirty="0"/>
                        <a:t>NO.</a:t>
                      </a:r>
                      <a:endParaRPr lang="en-IN" dirty="0"/>
                    </a:p>
                  </a:txBody>
                  <a:tcPr/>
                </a:tc>
                <a:tc>
                  <a:txBody>
                    <a:bodyPr/>
                    <a:lstStyle/>
                    <a:p>
                      <a:r>
                        <a:rPr lang="en-US" dirty="0"/>
                        <a:t>AUTHORS</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TITLE</a:t>
                      </a:r>
                      <a:endParaRPr lang="en-IN" sz="1800" dirty="0"/>
                    </a:p>
                    <a:p>
                      <a:endParaRPr lang="en-IN" dirty="0"/>
                    </a:p>
                  </a:txBody>
                  <a:tcPr/>
                </a:tc>
                <a:tc>
                  <a:txBody>
                    <a:bodyPr/>
                    <a:lstStyle/>
                    <a:p>
                      <a:r>
                        <a:rPr lang="en-US" sz="1800" dirty="0"/>
                        <a:t>NAME OF JOURNAL/</a:t>
                      </a:r>
                    </a:p>
                    <a:p>
                      <a:r>
                        <a:rPr lang="en-US" sz="1800" dirty="0"/>
                        <a:t>PAPER</a:t>
                      </a:r>
                      <a:endParaRPr lang="en-IN" sz="1800"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FINDING</a:t>
                      </a:r>
                      <a:r>
                        <a:rPr lang="en-IN" sz="1800" dirty="0"/>
                        <a:t>S</a:t>
                      </a:r>
                    </a:p>
                    <a:p>
                      <a:endParaRPr lang="en-IN" dirty="0"/>
                    </a:p>
                  </a:txBody>
                  <a:tcPr/>
                </a:tc>
                <a:extLst>
                  <a:ext uri="{0D108BD9-81ED-4DB2-BD59-A6C34878D82A}">
                    <a16:rowId xmlns:a16="http://schemas.microsoft.com/office/drawing/2014/main" val="3213852880"/>
                  </a:ext>
                </a:extLst>
              </a:tr>
              <a:tr h="4317472">
                <a:tc>
                  <a:txBody>
                    <a:bodyPr/>
                    <a:lstStyle/>
                    <a:p>
                      <a:r>
                        <a:rPr lang="en-US" dirty="0"/>
                        <a:t>5.</a:t>
                      </a:r>
                      <a:endParaRPr lang="en-IN" dirty="0"/>
                    </a:p>
                  </a:txBody>
                  <a:tcPr/>
                </a:tc>
                <a:tc>
                  <a:txBody>
                    <a:bodyPr/>
                    <a:lstStyle/>
                    <a:p>
                      <a:r>
                        <a:rPr lang="en-IN" dirty="0"/>
                        <a:t>J </a:t>
                      </a:r>
                      <a:r>
                        <a:rPr lang="en-IN" dirty="0" err="1"/>
                        <a:t>Jasman</a:t>
                      </a:r>
                      <a:r>
                        <a:rPr lang="en-IN" dirty="0"/>
                        <a:t>, </a:t>
                      </a:r>
                    </a:p>
                    <a:p>
                      <a:r>
                        <a:rPr lang="en-IN" dirty="0"/>
                        <a:t>M Ridwan, </a:t>
                      </a:r>
                    </a:p>
                    <a:p>
                      <a:r>
                        <a:rPr lang="en-IN" dirty="0"/>
                        <a:t>MKA </a:t>
                      </a:r>
                      <a:r>
                        <a:rPr lang="en-IN" dirty="0" err="1"/>
                        <a:t>Kamarudin</a:t>
                      </a:r>
                      <a:r>
                        <a:rPr lang="en-IN" dirty="0"/>
                        <a:t>, DP Lubis</a:t>
                      </a:r>
                    </a:p>
                  </a:txBody>
                  <a:tcPr/>
                </a:tc>
                <a:tc>
                  <a:txBody>
                    <a:bodyPr/>
                    <a:lstStyle/>
                    <a:p>
                      <a:r>
                        <a:rPr lang="en-US" dirty="0"/>
                        <a:t>Production Of Spatial </a:t>
                      </a:r>
                      <a:r>
                        <a:rPr lang="en-US" dirty="0" err="1"/>
                        <a:t>Geosite</a:t>
                      </a:r>
                      <a:r>
                        <a:rPr lang="en-US" dirty="0"/>
                        <a:t> Itinerary Maps as Tourism Destinations</a:t>
                      </a:r>
                      <a:endParaRPr lang="en-IN" dirty="0"/>
                    </a:p>
                  </a:txBody>
                  <a:tcPr/>
                </a:tc>
                <a:tc>
                  <a:txBody>
                    <a:bodyPr/>
                    <a:lstStyle/>
                    <a:p>
                      <a:r>
                        <a:rPr lang="nn-NO" dirty="0"/>
                        <a:t>Jurnal Geografi 15 (2), 208, </a:t>
                      </a:r>
                    </a:p>
                    <a:p>
                      <a:r>
                        <a:rPr lang="nn-NO" dirty="0"/>
                        <a:t>2023</a:t>
                      </a:r>
                      <a:endParaRPr lang="en-IN" dirty="0"/>
                    </a:p>
                  </a:txBody>
                  <a:tcPr/>
                </a:tc>
                <a:tc>
                  <a:txBody>
                    <a:bodyPr/>
                    <a:lstStyle/>
                    <a:p>
                      <a:r>
                        <a:rPr lang="en-IN" dirty="0"/>
                        <a:t>Tourist maps often lack comprehensive non-spatial attribute data essential for quality tourism experiences. This study addresses this limitation by developing spatial </a:t>
                      </a:r>
                      <a:r>
                        <a:rPr lang="en-IN" dirty="0" err="1"/>
                        <a:t>geosite</a:t>
                      </a:r>
                      <a:r>
                        <a:rPr lang="en-IN" dirty="0"/>
                        <a:t> itinerary maps that integrate geographical, cultural, and historical information. </a:t>
                      </a:r>
                    </a:p>
                  </a:txBody>
                  <a:tcPr/>
                </a:tc>
                <a:extLst>
                  <a:ext uri="{0D108BD9-81ED-4DB2-BD59-A6C34878D82A}">
                    <a16:rowId xmlns:a16="http://schemas.microsoft.com/office/drawing/2014/main" val="3125672875"/>
                  </a:ext>
                </a:extLst>
              </a:tr>
            </a:tbl>
          </a:graphicData>
        </a:graphic>
      </p:graphicFrame>
    </p:spTree>
    <p:extLst>
      <p:ext uri="{BB962C8B-B14F-4D97-AF65-F5344CB8AC3E}">
        <p14:creationId xmlns:p14="http://schemas.microsoft.com/office/powerpoint/2010/main" val="688606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5AE3BE5-B9D0-A30D-4AD0-483E59346813}"/>
              </a:ext>
            </a:extLst>
          </p:cNvPr>
          <p:cNvGraphicFramePr>
            <a:graphicFrameLocks noGrp="1"/>
          </p:cNvGraphicFramePr>
          <p:nvPr>
            <p:ph idx="1"/>
            <p:extLst>
              <p:ext uri="{D42A27DB-BD31-4B8C-83A1-F6EECF244321}">
                <p14:modId xmlns:p14="http://schemas.microsoft.com/office/powerpoint/2010/main" val="1945859040"/>
              </p:ext>
            </p:extLst>
          </p:nvPr>
        </p:nvGraphicFramePr>
        <p:xfrm>
          <a:off x="342900" y="838200"/>
          <a:ext cx="8458200" cy="4953000"/>
        </p:xfrm>
        <a:graphic>
          <a:graphicData uri="http://schemas.openxmlformats.org/drawingml/2006/table">
            <a:tbl>
              <a:tblPr firstRow="1" bandRow="1">
                <a:tableStyleId>{5C22544A-7EE6-4342-B048-85BDC9FD1C3A}</a:tableStyleId>
              </a:tblPr>
              <a:tblGrid>
                <a:gridCol w="571500">
                  <a:extLst>
                    <a:ext uri="{9D8B030D-6E8A-4147-A177-3AD203B41FA5}">
                      <a16:colId xmlns:a16="http://schemas.microsoft.com/office/drawing/2014/main" val="4266377604"/>
                    </a:ext>
                  </a:extLst>
                </a:gridCol>
                <a:gridCol w="1447800">
                  <a:extLst>
                    <a:ext uri="{9D8B030D-6E8A-4147-A177-3AD203B41FA5}">
                      <a16:colId xmlns:a16="http://schemas.microsoft.com/office/drawing/2014/main" val="3909514173"/>
                    </a:ext>
                  </a:extLst>
                </a:gridCol>
                <a:gridCol w="2057400">
                  <a:extLst>
                    <a:ext uri="{9D8B030D-6E8A-4147-A177-3AD203B41FA5}">
                      <a16:colId xmlns:a16="http://schemas.microsoft.com/office/drawing/2014/main" val="1420576711"/>
                    </a:ext>
                  </a:extLst>
                </a:gridCol>
                <a:gridCol w="1600200">
                  <a:extLst>
                    <a:ext uri="{9D8B030D-6E8A-4147-A177-3AD203B41FA5}">
                      <a16:colId xmlns:a16="http://schemas.microsoft.com/office/drawing/2014/main" val="1845895542"/>
                    </a:ext>
                  </a:extLst>
                </a:gridCol>
                <a:gridCol w="2781300">
                  <a:extLst>
                    <a:ext uri="{9D8B030D-6E8A-4147-A177-3AD203B41FA5}">
                      <a16:colId xmlns:a16="http://schemas.microsoft.com/office/drawing/2014/main" val="3749241071"/>
                    </a:ext>
                  </a:extLst>
                </a:gridCol>
              </a:tblGrid>
              <a:tr h="1369979">
                <a:tc>
                  <a:txBody>
                    <a:bodyPr/>
                    <a:lstStyle/>
                    <a:p>
                      <a:r>
                        <a:rPr lang="en-US" dirty="0"/>
                        <a:t>SR</a:t>
                      </a:r>
                    </a:p>
                    <a:p>
                      <a:r>
                        <a:rPr lang="en-US" dirty="0"/>
                        <a:t>NO.</a:t>
                      </a:r>
                      <a:endParaRPr lang="en-IN"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AUTHORS</a:t>
                      </a:r>
                      <a:endParaRPr lang="en-IN"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TITLE</a:t>
                      </a:r>
                      <a:endParaRPr lang="en-IN" sz="1800" dirty="0"/>
                    </a:p>
                    <a:p>
                      <a:endParaRPr lang="en-IN" dirty="0"/>
                    </a:p>
                  </a:txBody>
                  <a:tcPr/>
                </a:tc>
                <a:tc>
                  <a:txBody>
                    <a:bodyPr/>
                    <a:lstStyle/>
                    <a:p>
                      <a:r>
                        <a:rPr lang="en-US" sz="1800" dirty="0"/>
                        <a:t>NAME OF JOURNAL/</a:t>
                      </a:r>
                    </a:p>
                    <a:p>
                      <a:r>
                        <a:rPr lang="en-US" sz="1800" dirty="0"/>
                        <a:t>PAPER</a:t>
                      </a:r>
                      <a:endParaRPr lang="en-IN" sz="1800"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FINDING</a:t>
                      </a:r>
                      <a:r>
                        <a:rPr lang="en-IN" sz="1800" dirty="0"/>
                        <a:t>S</a:t>
                      </a:r>
                    </a:p>
                    <a:p>
                      <a:endParaRPr lang="en-IN" dirty="0"/>
                    </a:p>
                  </a:txBody>
                  <a:tcPr/>
                </a:tc>
                <a:extLst>
                  <a:ext uri="{0D108BD9-81ED-4DB2-BD59-A6C34878D82A}">
                    <a16:rowId xmlns:a16="http://schemas.microsoft.com/office/drawing/2014/main" val="4236841201"/>
                  </a:ext>
                </a:extLst>
              </a:tr>
              <a:tr h="3583021">
                <a:tc>
                  <a:txBody>
                    <a:bodyPr/>
                    <a:lstStyle/>
                    <a:p>
                      <a:r>
                        <a:rPr lang="en-US" dirty="0"/>
                        <a:t>6.</a:t>
                      </a:r>
                      <a:endParaRPr lang="en-IN" dirty="0"/>
                    </a:p>
                  </a:txBody>
                  <a:tcPr/>
                </a:tc>
                <a:tc>
                  <a:txBody>
                    <a:bodyPr/>
                    <a:lstStyle/>
                    <a:p>
                      <a:r>
                        <a:rPr lang="en-IN" dirty="0"/>
                        <a:t>Mohamed </a:t>
                      </a:r>
                      <a:r>
                        <a:rPr lang="en-IN" dirty="0" err="1"/>
                        <a:t>Badouch</a:t>
                      </a:r>
                      <a:r>
                        <a:rPr lang="en-IN" dirty="0"/>
                        <a:t>, Mehdi </a:t>
                      </a:r>
                      <a:r>
                        <a:rPr lang="en-IN" dirty="0" err="1"/>
                        <a:t>Boutaounte</a:t>
                      </a:r>
                      <a:r>
                        <a:rPr lang="en-IN" dirty="0"/>
                        <a:t>.</a:t>
                      </a:r>
                    </a:p>
                  </a:txBody>
                  <a:tcPr/>
                </a:tc>
                <a:tc>
                  <a:txBody>
                    <a:bodyPr/>
                    <a:lstStyle/>
                    <a:p>
                      <a:r>
                        <a:rPr lang="en-US" dirty="0"/>
                        <a:t>Personalized Travel Recommendation Systems: A study of Machine learning approaches in tourism.</a:t>
                      </a:r>
                      <a:endParaRPr lang="en-IN" dirty="0"/>
                    </a:p>
                  </a:txBody>
                  <a:tcPr/>
                </a:tc>
                <a:tc>
                  <a:txBody>
                    <a:bodyPr/>
                    <a:lstStyle/>
                    <a:p>
                      <a:r>
                        <a:rPr lang="en-US" dirty="0"/>
                        <a:t>Journal of Artificial Intelligence Machine Learning and Neural Network 33, 35-45, 2023.</a:t>
                      </a:r>
                      <a:endParaRPr lang="en-IN" dirty="0"/>
                    </a:p>
                  </a:txBody>
                  <a:tcPr/>
                </a:tc>
                <a:tc>
                  <a:txBody>
                    <a:bodyPr/>
                    <a:lstStyle/>
                    <a:p>
                      <a:r>
                        <a:rPr lang="en-US" dirty="0"/>
                        <a:t>This study analyzes accommodation booking data to predict customer review categories using machine learning. </a:t>
                      </a:r>
                    </a:p>
                    <a:p>
                      <a:endParaRPr lang="en-US" dirty="0"/>
                    </a:p>
                    <a:p>
                      <a:r>
                        <a:rPr lang="en-US" dirty="0"/>
                        <a:t>It explores recommender systems, including collaborative filtering, content-based filtering, and hybrid approaches.</a:t>
                      </a:r>
                      <a:endParaRPr lang="en-IN" dirty="0"/>
                    </a:p>
                  </a:txBody>
                  <a:tcPr/>
                </a:tc>
                <a:extLst>
                  <a:ext uri="{0D108BD9-81ED-4DB2-BD59-A6C34878D82A}">
                    <a16:rowId xmlns:a16="http://schemas.microsoft.com/office/drawing/2014/main" val="3707301645"/>
                  </a:ext>
                </a:extLst>
              </a:tr>
            </a:tbl>
          </a:graphicData>
        </a:graphic>
      </p:graphicFrame>
    </p:spTree>
    <p:extLst>
      <p:ext uri="{BB962C8B-B14F-4D97-AF65-F5344CB8AC3E}">
        <p14:creationId xmlns:p14="http://schemas.microsoft.com/office/powerpoint/2010/main" val="2322219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5E89F05-5D85-B776-9D97-38F3C46E777A}"/>
              </a:ext>
            </a:extLst>
          </p:cNvPr>
          <p:cNvGraphicFramePr>
            <a:graphicFrameLocks noGrp="1"/>
          </p:cNvGraphicFramePr>
          <p:nvPr>
            <p:ph idx="1"/>
            <p:extLst>
              <p:ext uri="{D42A27DB-BD31-4B8C-83A1-F6EECF244321}">
                <p14:modId xmlns:p14="http://schemas.microsoft.com/office/powerpoint/2010/main" val="3583641658"/>
              </p:ext>
            </p:extLst>
          </p:nvPr>
        </p:nvGraphicFramePr>
        <p:xfrm>
          <a:off x="361950" y="228600"/>
          <a:ext cx="8420100" cy="6280872"/>
        </p:xfrm>
        <a:graphic>
          <a:graphicData uri="http://schemas.openxmlformats.org/drawingml/2006/table">
            <a:tbl>
              <a:tblPr firstRow="1" bandRow="1">
                <a:tableStyleId>{5C22544A-7EE6-4342-B048-85BDC9FD1C3A}</a:tableStyleId>
              </a:tblPr>
              <a:tblGrid>
                <a:gridCol w="617989">
                  <a:extLst>
                    <a:ext uri="{9D8B030D-6E8A-4147-A177-3AD203B41FA5}">
                      <a16:colId xmlns:a16="http://schemas.microsoft.com/office/drawing/2014/main" val="915732770"/>
                    </a:ext>
                  </a:extLst>
                </a:gridCol>
                <a:gridCol w="1544972">
                  <a:extLst>
                    <a:ext uri="{9D8B030D-6E8A-4147-A177-3AD203B41FA5}">
                      <a16:colId xmlns:a16="http://schemas.microsoft.com/office/drawing/2014/main" val="2266281256"/>
                    </a:ext>
                  </a:extLst>
                </a:gridCol>
                <a:gridCol w="1853967">
                  <a:extLst>
                    <a:ext uri="{9D8B030D-6E8A-4147-A177-3AD203B41FA5}">
                      <a16:colId xmlns:a16="http://schemas.microsoft.com/office/drawing/2014/main" val="492779219"/>
                    </a:ext>
                  </a:extLst>
                </a:gridCol>
                <a:gridCol w="1699470">
                  <a:extLst>
                    <a:ext uri="{9D8B030D-6E8A-4147-A177-3AD203B41FA5}">
                      <a16:colId xmlns:a16="http://schemas.microsoft.com/office/drawing/2014/main" val="1143639685"/>
                    </a:ext>
                  </a:extLst>
                </a:gridCol>
                <a:gridCol w="2703702">
                  <a:extLst>
                    <a:ext uri="{9D8B030D-6E8A-4147-A177-3AD203B41FA5}">
                      <a16:colId xmlns:a16="http://schemas.microsoft.com/office/drawing/2014/main" val="1996789339"/>
                    </a:ext>
                  </a:extLst>
                </a:gridCol>
              </a:tblGrid>
              <a:tr h="1197753">
                <a:tc>
                  <a:txBody>
                    <a:bodyPr/>
                    <a:lstStyle/>
                    <a:p>
                      <a:r>
                        <a:rPr lang="en-US" dirty="0"/>
                        <a:t>SR</a:t>
                      </a:r>
                    </a:p>
                    <a:p>
                      <a:r>
                        <a:rPr lang="en-US" dirty="0"/>
                        <a:t>NO.</a:t>
                      </a:r>
                      <a:endParaRPr lang="en-IN"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AUTHORS</a:t>
                      </a:r>
                      <a:endParaRPr lang="en-IN"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TITLE</a:t>
                      </a:r>
                      <a:endParaRPr lang="en-IN" sz="1800" dirty="0"/>
                    </a:p>
                    <a:p>
                      <a:endParaRPr lang="en-IN" dirty="0"/>
                    </a:p>
                  </a:txBody>
                  <a:tcPr/>
                </a:tc>
                <a:tc>
                  <a:txBody>
                    <a:bodyPr/>
                    <a:lstStyle/>
                    <a:p>
                      <a:r>
                        <a:rPr lang="en-US" sz="1800" dirty="0"/>
                        <a:t>NAME OF JOURNAL/</a:t>
                      </a:r>
                    </a:p>
                    <a:p>
                      <a:r>
                        <a:rPr lang="en-US" sz="1800" dirty="0"/>
                        <a:t>PAPER</a:t>
                      </a:r>
                      <a:endParaRPr lang="en-IN" sz="1800"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FINDING</a:t>
                      </a:r>
                      <a:r>
                        <a:rPr lang="en-IN" sz="1800" dirty="0"/>
                        <a:t>S</a:t>
                      </a:r>
                    </a:p>
                    <a:p>
                      <a:endParaRPr lang="en-IN" dirty="0"/>
                    </a:p>
                  </a:txBody>
                  <a:tcPr/>
                </a:tc>
                <a:extLst>
                  <a:ext uri="{0D108BD9-81ED-4DB2-BD59-A6C34878D82A}">
                    <a16:rowId xmlns:a16="http://schemas.microsoft.com/office/drawing/2014/main" val="2903910036"/>
                  </a:ext>
                </a:extLst>
              </a:tr>
              <a:tr h="2688447">
                <a:tc>
                  <a:txBody>
                    <a:bodyPr/>
                    <a:lstStyle/>
                    <a:p>
                      <a:r>
                        <a:rPr lang="en-IN" dirty="0"/>
                        <a:t>7.</a:t>
                      </a:r>
                    </a:p>
                  </a:txBody>
                  <a:tcPr/>
                </a:tc>
                <a:tc>
                  <a:txBody>
                    <a:bodyPr/>
                    <a:lstStyle/>
                    <a:p>
                      <a:r>
                        <a:rPr lang="en-IN" dirty="0"/>
                        <a:t>Reem Alotaibi, Ahlam Ali, </a:t>
                      </a:r>
                    </a:p>
                    <a:p>
                      <a:r>
                        <a:rPr lang="en-IN" dirty="0"/>
                        <a:t>Haya </a:t>
                      </a:r>
                      <a:r>
                        <a:rPr lang="en-IN" dirty="0" err="1"/>
                        <a:t>Alharthi</a:t>
                      </a:r>
                      <a:r>
                        <a:rPr lang="en-IN" dirty="0"/>
                        <a:t>, </a:t>
                      </a:r>
                      <a:r>
                        <a:rPr lang="en-IN" dirty="0" err="1"/>
                        <a:t>Renad</a:t>
                      </a:r>
                      <a:r>
                        <a:rPr lang="en-IN" dirty="0"/>
                        <a:t> </a:t>
                      </a:r>
                      <a:r>
                        <a:rPr lang="en-IN" dirty="0" err="1"/>
                        <a:t>Almehamdi</a:t>
                      </a:r>
                      <a:r>
                        <a:rPr lang="en-IN" dirty="0"/>
                        <a:t>.</a:t>
                      </a:r>
                    </a:p>
                    <a:p>
                      <a:endParaRPr lang="en-IN" dirty="0"/>
                    </a:p>
                  </a:txBody>
                  <a:tcPr/>
                </a:tc>
                <a:tc>
                  <a:txBody>
                    <a:bodyPr/>
                    <a:lstStyle/>
                    <a:p>
                      <a:r>
                        <a:rPr lang="en-IN" dirty="0"/>
                        <a:t>AI chatbot for tourist </a:t>
                      </a:r>
                    </a:p>
                    <a:p>
                      <a:r>
                        <a:rPr lang="en-IN" dirty="0" err="1"/>
                        <a:t>Recommendati-ons</a:t>
                      </a:r>
                      <a:r>
                        <a:rPr lang="en-IN" dirty="0"/>
                        <a:t>.</a:t>
                      </a:r>
                    </a:p>
                  </a:txBody>
                  <a:tcPr/>
                </a:tc>
                <a:tc>
                  <a:txBody>
                    <a:bodyPr/>
                    <a:lstStyle/>
                    <a:p>
                      <a:r>
                        <a:rPr lang="en-US" dirty="0"/>
                        <a:t>International Association of Online Engineering, 2020.</a:t>
                      </a:r>
                      <a:endParaRPr lang="en-IN" dirty="0"/>
                    </a:p>
                  </a:txBody>
                  <a:tcPr/>
                </a:tc>
                <a:tc>
                  <a:txBody>
                    <a:bodyPr/>
                    <a:lstStyle/>
                    <a:p>
                      <a:r>
                        <a:rPr lang="en-US" dirty="0"/>
                        <a:t>The build chatbot to serves as a single point of contact for tourists, providing recommendations for sights, hotels, activities, and full travel plans through a natural language interface.</a:t>
                      </a:r>
                      <a:endParaRPr lang="en-IN" dirty="0"/>
                    </a:p>
                  </a:txBody>
                  <a:tcPr/>
                </a:tc>
                <a:extLst>
                  <a:ext uri="{0D108BD9-81ED-4DB2-BD59-A6C34878D82A}">
                    <a16:rowId xmlns:a16="http://schemas.microsoft.com/office/drawing/2014/main" val="2163787726"/>
                  </a:ext>
                </a:extLst>
              </a:tr>
              <a:tr h="2394672">
                <a:tc>
                  <a:txBody>
                    <a:bodyPr/>
                    <a:lstStyle/>
                    <a:p>
                      <a:r>
                        <a:rPr lang="en-IN" dirty="0"/>
                        <a:t>8.</a:t>
                      </a:r>
                    </a:p>
                  </a:txBody>
                  <a:tcPr/>
                </a:tc>
                <a:tc>
                  <a:txBody>
                    <a:bodyPr/>
                    <a:lstStyle/>
                    <a:p>
                      <a:r>
                        <a:rPr lang="en-IN" dirty="0"/>
                        <a:t>Adeel Munawar, Syed Ali Raza, </a:t>
                      </a:r>
                      <a:r>
                        <a:rPr lang="en-IN" dirty="0" err="1"/>
                        <a:t>Awais</a:t>
                      </a:r>
                      <a:r>
                        <a:rPr lang="en-IN" dirty="0"/>
                        <a:t> Qasim.</a:t>
                      </a:r>
                    </a:p>
                  </a:txBody>
                  <a:tcPr/>
                </a:tc>
                <a:tc>
                  <a:txBody>
                    <a:bodyPr/>
                    <a:lstStyle/>
                    <a:p>
                      <a:r>
                        <a:rPr lang="en-US" dirty="0"/>
                        <a:t>Design and Development of AI-Based Tourist Facilitator and Information Age-nt.</a:t>
                      </a:r>
                      <a:endParaRPr lang="en-IN" dirty="0"/>
                    </a:p>
                  </a:txBody>
                  <a:tcPr/>
                </a:tc>
                <a:tc>
                  <a:txBody>
                    <a:bodyPr/>
                    <a:lstStyle/>
                    <a:p>
                      <a:r>
                        <a:rPr lang="en-US" dirty="0"/>
                        <a:t>Applied Computer Systems 25 (2), 124-133, 2020.</a:t>
                      </a:r>
                      <a:endParaRPr lang="en-IN" dirty="0"/>
                    </a:p>
                  </a:txBody>
                  <a:tcPr/>
                </a:tc>
                <a:tc>
                  <a:txBody>
                    <a:bodyPr/>
                    <a:lstStyle/>
                    <a:p>
                      <a:r>
                        <a:rPr lang="en-US" dirty="0"/>
                        <a:t>The paper focuses on developing an AI-powered virtual tourist guide that mimics human facilitators by providing accurate travel information, natural communication, and real-time search capabilities.</a:t>
                      </a:r>
                      <a:endParaRPr lang="en-IN" dirty="0"/>
                    </a:p>
                  </a:txBody>
                  <a:tcPr/>
                </a:tc>
                <a:extLst>
                  <a:ext uri="{0D108BD9-81ED-4DB2-BD59-A6C34878D82A}">
                    <a16:rowId xmlns:a16="http://schemas.microsoft.com/office/drawing/2014/main" val="1993674120"/>
                  </a:ext>
                </a:extLst>
              </a:tr>
            </a:tbl>
          </a:graphicData>
        </a:graphic>
      </p:graphicFrame>
    </p:spTree>
    <p:extLst>
      <p:ext uri="{BB962C8B-B14F-4D97-AF65-F5344CB8AC3E}">
        <p14:creationId xmlns:p14="http://schemas.microsoft.com/office/powerpoint/2010/main" val="689874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14267-0898-45E2-8996-D32C549DF389}"/>
              </a:ext>
            </a:extLst>
          </p:cNvPr>
          <p:cNvSpPr>
            <a:spLocks noGrp="1"/>
          </p:cNvSpPr>
          <p:nvPr>
            <p:ph type="title"/>
          </p:nvPr>
        </p:nvSpPr>
        <p:spPr/>
        <p:txBody>
          <a:bodyPr/>
          <a:lstStyle/>
          <a:p>
            <a:r>
              <a:rPr lang="en-IN" b="1" u="sng" dirty="0">
                <a:latin typeface="Times New Roman" panose="02020603050405020304" pitchFamily="18" charset="0"/>
                <a:cs typeface="Times New Roman" panose="02020603050405020304" pitchFamily="18" charset="0"/>
              </a:rPr>
              <a:t>Problem Definition</a:t>
            </a:r>
            <a:endParaRPr lang="en-IN" u="sng" dirty="0"/>
          </a:p>
        </p:txBody>
      </p:sp>
      <p:sp>
        <p:nvSpPr>
          <p:cNvPr id="3" name="Content Placeholder 2">
            <a:extLst>
              <a:ext uri="{FF2B5EF4-FFF2-40B4-BE49-F238E27FC236}">
                <a16:creationId xmlns:a16="http://schemas.microsoft.com/office/drawing/2014/main" id="{D429642B-2BA6-4254-AF90-62A74AADA7B9}"/>
              </a:ext>
            </a:extLst>
          </p:cNvPr>
          <p:cNvSpPr>
            <a:spLocks noGrp="1"/>
          </p:cNvSpPr>
          <p:nvPr>
            <p:ph idx="1"/>
          </p:nvPr>
        </p:nvSpPr>
        <p:spPr>
          <a:xfrm>
            <a:off x="457200" y="1981200"/>
            <a:ext cx="8229600" cy="4525963"/>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Tourists and residents in Mumbai often find it difficult to access reliable information about the city's attractions, facilities, and events. This leads to inefficient planning and missed opportunities. The "Smart City Guide" solves this problem by offering a centralized platform with all the essential information in one place.</a:t>
            </a:r>
            <a:endParaRPr lang="en-IN" sz="18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692655FD-D123-44A3-A507-34E98E9075C7}"/>
              </a:ext>
            </a:extLst>
          </p:cNvPr>
          <p:cNvCxnSpPr/>
          <p:nvPr/>
        </p:nvCxnSpPr>
        <p:spPr>
          <a:xfrm>
            <a:off x="3131840" y="306896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863DE70-3806-4FF5-ACA8-0B932DA6E8FF}"/>
              </a:ext>
            </a:extLst>
          </p:cNvPr>
          <p:cNvCxnSpPr/>
          <p:nvPr/>
        </p:nvCxnSpPr>
        <p:spPr>
          <a:xfrm>
            <a:off x="3347864" y="2852936"/>
            <a:ext cx="0" cy="0"/>
          </a:xfrm>
          <a:prstGeom prst="line">
            <a:avLst/>
          </a:prstGeom>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8E25FE67-758B-46E5-9069-3458CAE936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3440723"/>
            <a:ext cx="4724400" cy="3016024"/>
          </a:xfrm>
          <a:prstGeom prst="rect">
            <a:avLst/>
          </a:prstGeom>
        </p:spPr>
      </p:pic>
    </p:spTree>
    <p:extLst>
      <p:ext uri="{BB962C8B-B14F-4D97-AF65-F5344CB8AC3E}">
        <p14:creationId xmlns:p14="http://schemas.microsoft.com/office/powerpoint/2010/main" val="2291619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Aim And Objectives</a:t>
            </a:r>
            <a:endParaRPr lang="en-IN" dirty="0"/>
          </a:p>
        </p:txBody>
      </p:sp>
      <p:sp>
        <p:nvSpPr>
          <p:cNvPr id="3" name="Content Placeholder 2"/>
          <p:cNvSpPr>
            <a:spLocks noGrp="1"/>
          </p:cNvSpPr>
          <p:nvPr>
            <p:ph idx="1"/>
          </p:nvPr>
        </p:nvSpPr>
        <p:spPr>
          <a:xfrm>
            <a:off x="359532" y="1619672"/>
            <a:ext cx="8424936" cy="4781128"/>
          </a:xfrm>
        </p:spPr>
        <p:txBody>
          <a:bodyPr vert="horz" lIns="91440" tIns="45720" rIns="91440" bIns="45720" rtlCol="0" anchor="t">
            <a:normAutofit/>
          </a:bodyPr>
          <a:lstStyle/>
          <a:p>
            <a:pPr marL="0" indent="0" algn="just">
              <a:buNone/>
            </a:pPr>
            <a:r>
              <a:rPr lang="en-US" sz="2400" dirty="0">
                <a:solidFill>
                  <a:srgbClr val="FF0000"/>
                </a:solidFill>
                <a:latin typeface="Times New Roman"/>
                <a:cs typeface="Times New Roman"/>
              </a:rPr>
              <a:t>Aim: </a:t>
            </a:r>
            <a:r>
              <a:rPr lang="en-US" sz="1800" dirty="0">
                <a:latin typeface="Times New Roman" panose="02020603050405020304" pitchFamily="18" charset="0"/>
                <a:cs typeface="Times New Roman" panose="02020603050405020304" pitchFamily="18" charset="0"/>
              </a:rPr>
              <a:t>To enhance the Smart City Guide by implementing a Machine Learning-based recommendation system that suggests top-rated tourist places, hotels, and restaurants based on user reviews and ratings, improving the user experience by providing relevant, highly-rated suggestions.</a:t>
            </a:r>
          </a:p>
          <a:p>
            <a:pPr marL="0" indent="0" algn="just">
              <a:buNone/>
            </a:pPr>
            <a:r>
              <a:rPr lang="en-US" sz="2400" b="0" i="0" dirty="0">
                <a:solidFill>
                  <a:srgbClr val="00B050"/>
                </a:solidFill>
                <a:effectLst/>
                <a:latin typeface="Times New Roman" panose="02020603050405020304" pitchFamily="18" charset="0"/>
                <a:cs typeface="Times New Roman" panose="02020603050405020304" pitchFamily="18" charset="0"/>
              </a:rPr>
              <a:t>Objectives</a:t>
            </a:r>
            <a:r>
              <a:rPr lang="en-US" sz="1800" b="0" i="0" dirty="0">
                <a:solidFill>
                  <a:srgbClr val="00B050"/>
                </a:solidFill>
                <a:effectLst/>
                <a:latin typeface="Times New Roman" panose="02020603050405020304" pitchFamily="18" charset="0"/>
                <a:cs typeface="Times New Roman" panose="02020603050405020304" pitchFamily="18" charset="0"/>
              </a:rPr>
              <a:t> </a:t>
            </a:r>
            <a:r>
              <a:rPr lang="en-US" sz="1800" dirty="0">
                <a:solidFill>
                  <a:srgbClr val="00B050"/>
                </a:solidFill>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Implement an ML-based recommendation system that suggests top-rated places (tourist spots, restaurants, hotels) based on average ratings and user reviews</a:t>
            </a:r>
            <a:r>
              <a:rPr lang="en-US" sz="1100" dirty="0"/>
              <a:t>.</a:t>
            </a:r>
          </a:p>
          <a:p>
            <a:pPr algn="just"/>
            <a:r>
              <a:rPr lang="en-US" sz="1800" dirty="0">
                <a:latin typeface="Times New Roman" panose="02020603050405020304" pitchFamily="18" charset="0"/>
                <a:cs typeface="Times New Roman" panose="02020603050405020304" pitchFamily="18" charset="0"/>
              </a:rPr>
              <a:t>Display highly-rated alternatives on location pages to help users discover the best places without manual searching.</a:t>
            </a:r>
            <a:endParaRPr lang="en-US" sz="1800" dirty="0">
              <a:solidFill>
                <a:schemeClr val="tx1">
                  <a:lumMod val="75000"/>
                  <a:lumOff val="25000"/>
                </a:schemeClr>
              </a:solidFill>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Highlight the most highly-rated and reviewed locations dynamically to keep the homepage relevant and engaging.</a:t>
            </a:r>
          </a:p>
          <a:p>
            <a:pPr algn="just"/>
            <a:r>
              <a:rPr lang="en-US" sz="1800" dirty="0">
                <a:latin typeface="Times New Roman" panose="02020603050405020304" pitchFamily="18" charset="0"/>
                <a:cs typeface="Times New Roman" panose="02020603050405020304" pitchFamily="18" charset="0"/>
              </a:rPr>
              <a:t>Offer a simple, easy-to-use design so that everyone, including tourists and locals, can easily explore the city’s features.</a:t>
            </a:r>
            <a:endParaRPr lang="en-US" sz="1800" i="0" dirty="0">
              <a:solidFill>
                <a:srgbClr val="22222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5468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1873" y="114306"/>
            <a:ext cx="8229600" cy="1143000"/>
          </a:xfrm>
        </p:spPr>
        <p:txBody>
          <a:bodyPr/>
          <a:lstStyle/>
          <a:p>
            <a:r>
              <a:rPr lang="en-IN" b="1" dirty="0">
                <a:latin typeface="Times New Roman" panose="02020603050405020304" pitchFamily="18" charset="0"/>
                <a:cs typeface="Times New Roman" panose="02020603050405020304" pitchFamily="18" charset="0"/>
              </a:rPr>
              <a:t>Proposed Methodology</a:t>
            </a:r>
            <a:endParaRPr lang="en-IN" dirty="0"/>
          </a:p>
        </p:txBody>
      </p:sp>
      <p:pic>
        <p:nvPicPr>
          <p:cNvPr id="10" name="Picture 9">
            <a:extLst>
              <a:ext uri="{FF2B5EF4-FFF2-40B4-BE49-F238E27FC236}">
                <a16:creationId xmlns:a16="http://schemas.microsoft.com/office/drawing/2014/main" id="{537A2B15-2E17-2ACD-783B-F2BB05EC53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346" y="1828800"/>
            <a:ext cx="8462127" cy="3740798"/>
          </a:xfrm>
          <a:prstGeom prst="rect">
            <a:avLst/>
          </a:prstGeom>
        </p:spPr>
      </p:pic>
    </p:spTree>
    <p:extLst>
      <p:ext uri="{BB962C8B-B14F-4D97-AF65-F5344CB8AC3E}">
        <p14:creationId xmlns:p14="http://schemas.microsoft.com/office/powerpoint/2010/main" val="3708239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14FDD97-6323-E231-E486-2B1A8F8ACAC8}"/>
              </a:ext>
            </a:extLst>
          </p:cNvPr>
          <p:cNvSpPr>
            <a:spLocks noGrp="1"/>
          </p:cNvSpPr>
          <p:nvPr>
            <p:ph type="title"/>
          </p:nvPr>
        </p:nvSpPr>
        <p:spPr>
          <a:xfrm>
            <a:off x="457200" y="261938"/>
            <a:ext cx="8077200" cy="487362"/>
          </a:xfrm>
        </p:spPr>
        <p:txBody>
          <a:bodyPr>
            <a:noAutofit/>
          </a:bodyPr>
          <a:lstStyle/>
          <a:p>
            <a:r>
              <a:rPr lang="en-US" sz="4000" u="sng" dirty="0">
                <a:latin typeface="Times New Roman" panose="02020603050405020304" pitchFamily="18" charset="0"/>
                <a:cs typeface="Times New Roman" panose="02020603050405020304" pitchFamily="18" charset="0"/>
              </a:rPr>
              <a:t>Flowchart</a:t>
            </a:r>
            <a:endParaRPr lang="en-IN" sz="4000" u="sng"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F43B377-96A1-E58D-1329-DF78C913AF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447800"/>
            <a:ext cx="8558198" cy="4452938"/>
          </a:xfrm>
          <a:prstGeom prst="rect">
            <a:avLst/>
          </a:prstGeom>
        </p:spPr>
      </p:pic>
    </p:spTree>
    <p:extLst>
      <p:ext uri="{BB962C8B-B14F-4D97-AF65-F5344CB8AC3E}">
        <p14:creationId xmlns:p14="http://schemas.microsoft.com/office/powerpoint/2010/main" val="1217057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A2AD4-72F3-4DCA-09EA-8B34F0888864}"/>
              </a:ext>
            </a:extLst>
          </p:cNvPr>
          <p:cNvSpPr>
            <a:spLocks noGrp="1"/>
          </p:cNvSpPr>
          <p:nvPr>
            <p:ph type="title"/>
          </p:nvPr>
        </p:nvSpPr>
        <p:spPr/>
        <p:txBody>
          <a:bodyPr>
            <a:normAutofit/>
          </a:bodyPr>
          <a:lstStyle/>
          <a:p>
            <a:r>
              <a:rPr lang="en-IN" sz="4000" u="sng" dirty="0">
                <a:latin typeface="Times New Roman" panose="02020603050405020304" pitchFamily="18" charset="0"/>
                <a:cs typeface="Times New Roman" panose="02020603050405020304" pitchFamily="18" charset="0"/>
              </a:rPr>
              <a:t>ML MODEL</a:t>
            </a:r>
          </a:p>
        </p:txBody>
      </p:sp>
      <p:pic>
        <p:nvPicPr>
          <p:cNvPr id="6" name="Picture 5">
            <a:extLst>
              <a:ext uri="{FF2B5EF4-FFF2-40B4-BE49-F238E27FC236}">
                <a16:creationId xmlns:a16="http://schemas.microsoft.com/office/drawing/2014/main" id="{11D5EF10-C705-7A2C-AFB8-19B98F2DF7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517" y="1676400"/>
            <a:ext cx="8684965" cy="4191000"/>
          </a:xfrm>
          <a:prstGeom prst="rect">
            <a:avLst/>
          </a:prstGeom>
        </p:spPr>
      </p:pic>
    </p:spTree>
    <p:extLst>
      <p:ext uri="{BB962C8B-B14F-4D97-AF65-F5344CB8AC3E}">
        <p14:creationId xmlns:p14="http://schemas.microsoft.com/office/powerpoint/2010/main" val="3966051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2894-41B9-8B9D-8A7D-46924BAD6021}"/>
              </a:ext>
            </a:extLst>
          </p:cNvPr>
          <p:cNvSpPr>
            <a:spLocks noGrp="1"/>
          </p:cNvSpPr>
          <p:nvPr>
            <p:ph type="title"/>
          </p:nvPr>
        </p:nvSpPr>
        <p:spPr/>
        <p:txBody>
          <a:bodyPr>
            <a:normAutofit/>
          </a:bodyPr>
          <a:lstStyle/>
          <a:p>
            <a:r>
              <a:rPr lang="en-IN" b="1" dirty="0"/>
              <a:t>Tech stack used</a:t>
            </a:r>
          </a:p>
        </p:txBody>
      </p:sp>
      <p:sp>
        <p:nvSpPr>
          <p:cNvPr id="4" name="Content Placeholder 3">
            <a:extLst>
              <a:ext uri="{FF2B5EF4-FFF2-40B4-BE49-F238E27FC236}">
                <a16:creationId xmlns:a16="http://schemas.microsoft.com/office/drawing/2014/main" id="{7DA453CF-A81B-0603-8B5A-CBD4FDEFE919}"/>
              </a:ext>
            </a:extLst>
          </p:cNvPr>
          <p:cNvSpPr>
            <a:spLocks noGrp="1"/>
          </p:cNvSpPr>
          <p:nvPr>
            <p:ph idx="1"/>
          </p:nvPr>
        </p:nvSpPr>
        <p:spPr/>
        <p:txBody>
          <a:bodyPr>
            <a:normAutofit/>
          </a:bodyPr>
          <a:lstStyle/>
          <a:p>
            <a:pPr>
              <a:lnSpc>
                <a:spcPct val="200000"/>
              </a:lnSpc>
            </a:pPr>
            <a:r>
              <a:rPr lang="en-IN" sz="1800" b="1" dirty="0" err="1">
                <a:latin typeface="Times New Roman" panose="02020603050405020304" pitchFamily="18" charset="0"/>
                <a:cs typeface="Times New Roman" panose="02020603050405020304" pitchFamily="18" charset="0"/>
              </a:rPr>
              <a:t>Frontend</a:t>
            </a:r>
            <a:r>
              <a:rPr lang="en-IN" sz="1800" dirty="0" err="1">
                <a:latin typeface="Times New Roman" panose="02020603050405020304" pitchFamily="18" charset="0"/>
                <a:cs typeface="Times New Roman" panose="02020603050405020304" pitchFamily="18" charset="0"/>
              </a:rPr>
              <a:t>:React</a:t>
            </a:r>
            <a:endParaRPr lang="en-IN" sz="1800" dirty="0">
              <a:latin typeface="Times New Roman" panose="02020603050405020304" pitchFamily="18" charset="0"/>
              <a:cs typeface="Times New Roman" panose="02020603050405020304" pitchFamily="18" charset="0"/>
            </a:endParaRPr>
          </a:p>
          <a:p>
            <a:pPr>
              <a:lnSpc>
                <a:spcPct val="200000"/>
              </a:lnSpc>
            </a:pPr>
            <a:r>
              <a:rPr lang="en-IN" sz="1800" b="1" dirty="0" err="1">
                <a:latin typeface="Times New Roman" panose="02020603050405020304" pitchFamily="18" charset="0"/>
                <a:cs typeface="Times New Roman" panose="02020603050405020304" pitchFamily="18" charset="0"/>
              </a:rPr>
              <a:t>Backend</a:t>
            </a:r>
            <a:r>
              <a:rPr lang="en-IN" sz="1800" dirty="0" err="1">
                <a:latin typeface="Times New Roman" panose="02020603050405020304" pitchFamily="18" charset="0"/>
                <a:cs typeface="Times New Roman" panose="02020603050405020304" pitchFamily="18" charset="0"/>
              </a:rPr>
              <a:t>:NodeJs</a:t>
            </a:r>
            <a:endParaRPr lang="en-IN" sz="1800" dirty="0">
              <a:latin typeface="Times New Roman" panose="02020603050405020304" pitchFamily="18" charset="0"/>
              <a:cs typeface="Times New Roman" panose="02020603050405020304" pitchFamily="18" charset="0"/>
            </a:endParaRPr>
          </a:p>
          <a:p>
            <a:pPr>
              <a:lnSpc>
                <a:spcPct val="200000"/>
              </a:lnSpc>
            </a:pPr>
            <a:r>
              <a:rPr lang="en-IN" sz="1800" b="1" dirty="0" err="1">
                <a:latin typeface="Times New Roman" panose="02020603050405020304" pitchFamily="18" charset="0"/>
                <a:cs typeface="Times New Roman" panose="02020603050405020304" pitchFamily="18" charset="0"/>
              </a:rPr>
              <a:t>Database</a:t>
            </a:r>
            <a:r>
              <a:rPr lang="en-IN" sz="1800" dirty="0" err="1">
                <a:latin typeface="Times New Roman" panose="02020603050405020304" pitchFamily="18" charset="0"/>
                <a:cs typeface="Times New Roman" panose="02020603050405020304" pitchFamily="18" charset="0"/>
              </a:rPr>
              <a:t>:MongoDB</a:t>
            </a:r>
            <a:endParaRPr lang="en-IN" sz="1800" dirty="0">
              <a:latin typeface="Times New Roman" panose="02020603050405020304" pitchFamily="18" charset="0"/>
              <a:cs typeface="Times New Roman" panose="02020603050405020304" pitchFamily="18" charset="0"/>
            </a:endParaRPr>
          </a:p>
          <a:p>
            <a:pPr>
              <a:lnSpc>
                <a:spcPct val="200000"/>
              </a:lnSpc>
            </a:pPr>
            <a:r>
              <a:rPr lang="en-IN" sz="1800" b="1" dirty="0" err="1">
                <a:latin typeface="Times New Roman" panose="02020603050405020304" pitchFamily="18" charset="0"/>
                <a:cs typeface="Times New Roman" panose="02020603050405020304" pitchFamily="18" charset="0"/>
              </a:rPr>
              <a:t>ML</a:t>
            </a:r>
            <a:r>
              <a:rPr lang="en-IN" sz="1800" dirty="0" err="1">
                <a:latin typeface="Times New Roman" panose="02020603050405020304" pitchFamily="18" charset="0"/>
                <a:cs typeface="Times New Roman" panose="02020603050405020304" pitchFamily="18" charset="0"/>
              </a:rPr>
              <a:t>:Python</a:t>
            </a:r>
            <a:r>
              <a:rPr lang="en-IN" sz="1800" dirty="0">
                <a:latin typeface="Times New Roman" panose="02020603050405020304" pitchFamily="18" charset="0"/>
                <a:cs typeface="Times New Roman" panose="02020603050405020304" pitchFamily="18" charset="0"/>
              </a:rPr>
              <a:t> libraries used </a:t>
            </a:r>
            <a:r>
              <a:rPr lang="en-IN" sz="1800" dirty="0" err="1">
                <a:latin typeface="Times New Roman" panose="02020603050405020304" pitchFamily="18" charset="0"/>
                <a:cs typeface="Times New Roman" panose="02020603050405020304" pitchFamily="18" charset="0"/>
              </a:rPr>
              <a:t>numpy,pandas,google</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collab,flask</a:t>
            </a:r>
            <a:endParaRPr lang="en-IN" sz="1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CB1A65F-2890-DFC5-A689-6846CAAD83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90800" y="4343400"/>
            <a:ext cx="3042582" cy="1782763"/>
          </a:xfrm>
          <a:prstGeom prst="rect">
            <a:avLst/>
          </a:prstGeom>
        </p:spPr>
      </p:pic>
    </p:spTree>
    <p:extLst>
      <p:ext uri="{BB962C8B-B14F-4D97-AF65-F5344CB8AC3E}">
        <p14:creationId xmlns:p14="http://schemas.microsoft.com/office/powerpoint/2010/main" val="1494265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Time Frame (Planning)  of completion of project</a:t>
            </a:r>
          </a:p>
        </p:txBody>
      </p:sp>
      <p:graphicFrame>
        <p:nvGraphicFramePr>
          <p:cNvPr id="3" name="Table 2">
            <a:extLst>
              <a:ext uri="{FF2B5EF4-FFF2-40B4-BE49-F238E27FC236}">
                <a16:creationId xmlns:a16="http://schemas.microsoft.com/office/drawing/2014/main" id="{7D3385A2-8C45-4321-77F4-A5425D17C4A7}"/>
              </a:ext>
            </a:extLst>
          </p:cNvPr>
          <p:cNvGraphicFramePr>
            <a:graphicFrameLocks noGrp="1"/>
          </p:cNvGraphicFramePr>
          <p:nvPr>
            <p:extLst>
              <p:ext uri="{D42A27DB-BD31-4B8C-83A1-F6EECF244321}">
                <p14:modId xmlns:p14="http://schemas.microsoft.com/office/powerpoint/2010/main" val="637556565"/>
              </p:ext>
            </p:extLst>
          </p:nvPr>
        </p:nvGraphicFramePr>
        <p:xfrm>
          <a:off x="115119" y="2478777"/>
          <a:ext cx="8885445" cy="4238356"/>
        </p:xfrm>
        <a:graphic>
          <a:graphicData uri="http://schemas.openxmlformats.org/drawingml/2006/table">
            <a:tbl>
              <a:tblPr firstRow="1" bandRow="1">
                <a:tableStyleId>{5C22544A-7EE6-4342-B048-85BDC9FD1C3A}</a:tableStyleId>
              </a:tblPr>
              <a:tblGrid>
                <a:gridCol w="2478319">
                  <a:extLst>
                    <a:ext uri="{9D8B030D-6E8A-4147-A177-3AD203B41FA5}">
                      <a16:colId xmlns:a16="http://schemas.microsoft.com/office/drawing/2014/main" val="2232910524"/>
                    </a:ext>
                  </a:extLst>
                </a:gridCol>
                <a:gridCol w="1144322">
                  <a:extLst>
                    <a:ext uri="{9D8B030D-6E8A-4147-A177-3AD203B41FA5}">
                      <a16:colId xmlns:a16="http://schemas.microsoft.com/office/drawing/2014/main" val="107473220"/>
                    </a:ext>
                  </a:extLst>
                </a:gridCol>
                <a:gridCol w="1002509">
                  <a:extLst>
                    <a:ext uri="{9D8B030D-6E8A-4147-A177-3AD203B41FA5}">
                      <a16:colId xmlns:a16="http://schemas.microsoft.com/office/drawing/2014/main" val="1356411601"/>
                    </a:ext>
                  </a:extLst>
                </a:gridCol>
                <a:gridCol w="1016805">
                  <a:extLst>
                    <a:ext uri="{9D8B030D-6E8A-4147-A177-3AD203B41FA5}">
                      <a16:colId xmlns:a16="http://schemas.microsoft.com/office/drawing/2014/main" val="3536822841"/>
                    </a:ext>
                  </a:extLst>
                </a:gridCol>
                <a:gridCol w="1016805">
                  <a:extLst>
                    <a:ext uri="{9D8B030D-6E8A-4147-A177-3AD203B41FA5}">
                      <a16:colId xmlns:a16="http://schemas.microsoft.com/office/drawing/2014/main" val="4104811339"/>
                    </a:ext>
                  </a:extLst>
                </a:gridCol>
                <a:gridCol w="1016805">
                  <a:extLst>
                    <a:ext uri="{9D8B030D-6E8A-4147-A177-3AD203B41FA5}">
                      <a16:colId xmlns:a16="http://schemas.microsoft.com/office/drawing/2014/main" val="3303555081"/>
                    </a:ext>
                  </a:extLst>
                </a:gridCol>
                <a:gridCol w="1209880">
                  <a:extLst>
                    <a:ext uri="{9D8B030D-6E8A-4147-A177-3AD203B41FA5}">
                      <a16:colId xmlns:a16="http://schemas.microsoft.com/office/drawing/2014/main" val="2682682659"/>
                    </a:ext>
                  </a:extLst>
                </a:gridCol>
              </a:tblGrid>
              <a:tr h="399460">
                <a:tc>
                  <a:txBody>
                    <a:bodyPr/>
                    <a:lstStyle/>
                    <a:p>
                      <a:endParaRPr lang="en-IN" sz="1800" dirty="0"/>
                    </a:p>
                  </a:txBody>
                  <a:tcPr/>
                </a:tc>
                <a:tc>
                  <a:txBody>
                    <a:bodyPr/>
                    <a:lstStyle/>
                    <a:p>
                      <a:r>
                        <a:rPr lang="en-US" sz="1800" dirty="0"/>
                        <a:t>Week 1</a:t>
                      </a:r>
                      <a:endParaRPr lang="en-IN" sz="1800" dirty="0"/>
                    </a:p>
                  </a:txBody>
                  <a:tcPr/>
                </a:tc>
                <a:tc>
                  <a:txBody>
                    <a:bodyPr/>
                    <a:lstStyle/>
                    <a:p>
                      <a:r>
                        <a:rPr lang="en-US" sz="1800" dirty="0"/>
                        <a:t>Week 2</a:t>
                      </a:r>
                      <a:endParaRPr lang="en-IN" sz="1800" dirty="0"/>
                    </a:p>
                  </a:txBody>
                  <a:tcPr/>
                </a:tc>
                <a:tc>
                  <a:txBody>
                    <a:bodyPr/>
                    <a:lstStyle/>
                    <a:p>
                      <a:r>
                        <a:rPr lang="en-US" sz="1800" dirty="0"/>
                        <a:t>Week 3</a:t>
                      </a:r>
                      <a:endParaRPr lang="en-IN" sz="1800" dirty="0"/>
                    </a:p>
                  </a:txBody>
                  <a:tcPr/>
                </a:tc>
                <a:tc>
                  <a:txBody>
                    <a:bodyPr/>
                    <a:lstStyle/>
                    <a:p>
                      <a:r>
                        <a:rPr lang="en-US" sz="1800" dirty="0"/>
                        <a:t>Week 4</a:t>
                      </a:r>
                      <a:endParaRPr lang="en-IN" sz="1800" dirty="0"/>
                    </a:p>
                  </a:txBody>
                  <a:tcPr/>
                </a:tc>
                <a:tc>
                  <a:txBody>
                    <a:bodyPr/>
                    <a:lstStyle/>
                    <a:p>
                      <a:r>
                        <a:rPr lang="en-US" sz="1800" dirty="0"/>
                        <a:t>Week 5</a:t>
                      </a:r>
                      <a:endParaRPr lang="en-IN" sz="1800" dirty="0"/>
                    </a:p>
                  </a:txBody>
                  <a:tcPr/>
                </a:tc>
                <a:tc>
                  <a:txBody>
                    <a:bodyPr/>
                    <a:lstStyle/>
                    <a:p>
                      <a:r>
                        <a:rPr lang="en-US" sz="1800" dirty="0"/>
                        <a:t>Week 6</a:t>
                      </a:r>
                      <a:endParaRPr lang="en-IN" sz="1800" dirty="0"/>
                    </a:p>
                  </a:txBody>
                  <a:tcPr/>
                </a:tc>
                <a:extLst>
                  <a:ext uri="{0D108BD9-81ED-4DB2-BD59-A6C34878D82A}">
                    <a16:rowId xmlns:a16="http://schemas.microsoft.com/office/drawing/2014/main" val="655209222"/>
                  </a:ext>
                </a:extLst>
              </a:tr>
              <a:tr h="404406">
                <a:tc>
                  <a:txBody>
                    <a:bodyPr/>
                    <a:lstStyle/>
                    <a:p>
                      <a:r>
                        <a:rPr lang="en-IN" dirty="0"/>
                        <a:t>Planning &amp; Data Collection</a:t>
                      </a:r>
                      <a:endParaRPr lang="en-IN" sz="1800" dirty="0"/>
                    </a:p>
                  </a:txBody>
                  <a:tcPr/>
                </a:tc>
                <a:tc>
                  <a:txBody>
                    <a:bodyPr/>
                    <a:lstStyle/>
                    <a:p>
                      <a:endParaRPr lang="en-IN" sz="1800" dirty="0"/>
                    </a:p>
                  </a:txBody>
                  <a:tcPr/>
                </a:tc>
                <a:tc>
                  <a:txBody>
                    <a:bodyPr/>
                    <a:lstStyle/>
                    <a:p>
                      <a:endParaRPr lang="en-IN" sz="1800"/>
                    </a:p>
                  </a:txBody>
                  <a:tcPr/>
                </a:tc>
                <a:tc>
                  <a:txBody>
                    <a:bodyPr/>
                    <a:lstStyle/>
                    <a:p>
                      <a:endParaRPr lang="en-IN" sz="1800"/>
                    </a:p>
                  </a:txBody>
                  <a:tcPr/>
                </a:tc>
                <a:tc>
                  <a:txBody>
                    <a:bodyPr/>
                    <a:lstStyle/>
                    <a:p>
                      <a:endParaRPr lang="en-IN" sz="1800" dirty="0"/>
                    </a:p>
                  </a:txBody>
                  <a:tcPr/>
                </a:tc>
                <a:tc>
                  <a:txBody>
                    <a:bodyPr/>
                    <a:lstStyle/>
                    <a:p>
                      <a:endParaRPr lang="en-IN" sz="1800" dirty="0"/>
                    </a:p>
                  </a:txBody>
                  <a:tcPr/>
                </a:tc>
                <a:tc>
                  <a:txBody>
                    <a:bodyPr/>
                    <a:lstStyle/>
                    <a:p>
                      <a:endParaRPr lang="en-IN" sz="1800"/>
                    </a:p>
                  </a:txBody>
                  <a:tcPr/>
                </a:tc>
                <a:extLst>
                  <a:ext uri="{0D108BD9-81ED-4DB2-BD59-A6C34878D82A}">
                    <a16:rowId xmlns:a16="http://schemas.microsoft.com/office/drawing/2014/main" val="3953285235"/>
                  </a:ext>
                </a:extLst>
              </a:tr>
              <a:tr h="399460">
                <a:tc>
                  <a:txBody>
                    <a:bodyPr/>
                    <a:lstStyle/>
                    <a:p>
                      <a:r>
                        <a:rPr lang="en-IN" dirty="0"/>
                        <a:t>Data Preprocessing</a:t>
                      </a:r>
                      <a:endParaRPr lang="en-IN" sz="1800" dirty="0"/>
                    </a:p>
                  </a:txBody>
                  <a:tcPr/>
                </a:tc>
                <a:tc>
                  <a:txBody>
                    <a:bodyPr/>
                    <a:lstStyle/>
                    <a:p>
                      <a:endParaRPr lang="en-IN" sz="1800" dirty="0"/>
                    </a:p>
                  </a:txBody>
                  <a:tcPr/>
                </a:tc>
                <a:tc>
                  <a:txBody>
                    <a:bodyPr/>
                    <a:lstStyle/>
                    <a:p>
                      <a:endParaRPr lang="en-IN" sz="1800"/>
                    </a:p>
                  </a:txBody>
                  <a:tcPr/>
                </a:tc>
                <a:tc>
                  <a:txBody>
                    <a:bodyPr/>
                    <a:lstStyle/>
                    <a:p>
                      <a:endParaRPr lang="en-IN" sz="1800"/>
                    </a:p>
                  </a:txBody>
                  <a:tcPr/>
                </a:tc>
                <a:tc>
                  <a:txBody>
                    <a:bodyPr/>
                    <a:lstStyle/>
                    <a:p>
                      <a:endParaRPr lang="en-IN" sz="1800" dirty="0"/>
                    </a:p>
                  </a:txBody>
                  <a:tcPr/>
                </a:tc>
                <a:tc>
                  <a:txBody>
                    <a:bodyPr/>
                    <a:lstStyle/>
                    <a:p>
                      <a:endParaRPr lang="en-IN" sz="1800" dirty="0"/>
                    </a:p>
                  </a:txBody>
                  <a:tcPr/>
                </a:tc>
                <a:tc>
                  <a:txBody>
                    <a:bodyPr/>
                    <a:lstStyle/>
                    <a:p>
                      <a:endParaRPr lang="en-IN" sz="1800"/>
                    </a:p>
                  </a:txBody>
                  <a:tcPr/>
                </a:tc>
                <a:extLst>
                  <a:ext uri="{0D108BD9-81ED-4DB2-BD59-A6C34878D82A}">
                    <a16:rowId xmlns:a16="http://schemas.microsoft.com/office/drawing/2014/main" val="3485169532"/>
                  </a:ext>
                </a:extLst>
              </a:tr>
              <a:tr h="11114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Model Selection &amp; Training</a:t>
                      </a:r>
                      <a:endParaRPr lang="en-IN" sz="1800" dirty="0"/>
                    </a:p>
                  </a:txBody>
                  <a:tcPr/>
                </a:tc>
                <a:tc>
                  <a:txBody>
                    <a:bodyPr/>
                    <a:lstStyle/>
                    <a:p>
                      <a:endParaRPr lang="en-IN" sz="1800"/>
                    </a:p>
                  </a:txBody>
                  <a:tcPr/>
                </a:tc>
                <a:tc>
                  <a:txBody>
                    <a:bodyPr/>
                    <a:lstStyle/>
                    <a:p>
                      <a:endParaRPr lang="en-IN" sz="1800"/>
                    </a:p>
                  </a:txBody>
                  <a:tcPr/>
                </a:tc>
                <a:tc>
                  <a:txBody>
                    <a:bodyPr/>
                    <a:lstStyle/>
                    <a:p>
                      <a:endParaRPr lang="en-IN" sz="1800"/>
                    </a:p>
                  </a:txBody>
                  <a:tcPr/>
                </a:tc>
                <a:tc>
                  <a:txBody>
                    <a:bodyPr/>
                    <a:lstStyle/>
                    <a:p>
                      <a:endParaRPr lang="en-IN" sz="1800" dirty="0"/>
                    </a:p>
                  </a:txBody>
                  <a:tcPr/>
                </a:tc>
                <a:tc>
                  <a:txBody>
                    <a:bodyPr/>
                    <a:lstStyle/>
                    <a:p>
                      <a:endParaRPr lang="en-IN" sz="1800"/>
                    </a:p>
                  </a:txBody>
                  <a:tcPr/>
                </a:tc>
                <a:tc>
                  <a:txBody>
                    <a:bodyPr/>
                    <a:lstStyle/>
                    <a:p>
                      <a:endParaRPr lang="en-IN" sz="1800"/>
                    </a:p>
                  </a:txBody>
                  <a:tcPr/>
                </a:tc>
                <a:extLst>
                  <a:ext uri="{0D108BD9-81ED-4DB2-BD59-A6C34878D82A}">
                    <a16:rowId xmlns:a16="http://schemas.microsoft.com/office/drawing/2014/main" val="2484277927"/>
                  </a:ext>
                </a:extLst>
              </a:tr>
              <a:tr h="9227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Backend Integration</a:t>
                      </a:r>
                      <a:endParaRPr lang="en-IN" sz="1800" dirty="0"/>
                    </a:p>
                  </a:txBody>
                  <a:tcPr/>
                </a:tc>
                <a:tc>
                  <a:txBody>
                    <a:bodyPr/>
                    <a:lstStyle/>
                    <a:p>
                      <a:endParaRPr lang="en-IN" sz="1800"/>
                    </a:p>
                  </a:txBody>
                  <a:tcPr/>
                </a:tc>
                <a:tc>
                  <a:txBody>
                    <a:bodyPr/>
                    <a:lstStyle/>
                    <a:p>
                      <a:endParaRPr lang="en-IN" sz="1800"/>
                    </a:p>
                  </a:txBody>
                  <a:tcPr/>
                </a:tc>
                <a:tc>
                  <a:txBody>
                    <a:bodyPr/>
                    <a:lstStyle/>
                    <a:p>
                      <a:endParaRPr lang="en-IN" sz="1800"/>
                    </a:p>
                  </a:txBody>
                  <a:tcPr/>
                </a:tc>
                <a:tc>
                  <a:txBody>
                    <a:bodyPr/>
                    <a:lstStyle/>
                    <a:p>
                      <a:endParaRPr lang="en-IN" sz="1800" dirty="0"/>
                    </a:p>
                  </a:txBody>
                  <a:tcPr/>
                </a:tc>
                <a:tc>
                  <a:txBody>
                    <a:bodyPr/>
                    <a:lstStyle/>
                    <a:p>
                      <a:endParaRPr lang="en-IN" sz="1800"/>
                    </a:p>
                  </a:txBody>
                  <a:tcPr/>
                </a:tc>
                <a:tc>
                  <a:txBody>
                    <a:bodyPr/>
                    <a:lstStyle/>
                    <a:p>
                      <a:endParaRPr lang="en-IN" sz="1800"/>
                    </a:p>
                  </a:txBody>
                  <a:tcPr/>
                </a:tc>
                <a:extLst>
                  <a:ext uri="{0D108BD9-81ED-4DB2-BD59-A6C34878D82A}">
                    <a16:rowId xmlns:a16="http://schemas.microsoft.com/office/drawing/2014/main" val="2528259941"/>
                  </a:ext>
                </a:extLst>
              </a:tr>
              <a:tr h="399460">
                <a:tc>
                  <a:txBody>
                    <a:bodyPr/>
                    <a:lstStyle/>
                    <a:p>
                      <a:r>
                        <a:rPr lang="en-IN" sz="1800" dirty="0"/>
                        <a:t>Review 1</a:t>
                      </a:r>
                    </a:p>
                  </a:txBody>
                  <a:tcPr/>
                </a:tc>
                <a:tc>
                  <a:txBody>
                    <a:bodyPr/>
                    <a:lstStyle/>
                    <a:p>
                      <a:endParaRPr lang="en-IN" sz="1800"/>
                    </a:p>
                  </a:txBody>
                  <a:tcPr/>
                </a:tc>
                <a:tc>
                  <a:txBody>
                    <a:bodyPr/>
                    <a:lstStyle/>
                    <a:p>
                      <a:endParaRPr lang="en-IN" sz="1800"/>
                    </a:p>
                  </a:txBody>
                  <a:tcPr/>
                </a:tc>
                <a:tc>
                  <a:txBody>
                    <a:bodyPr/>
                    <a:lstStyle/>
                    <a:p>
                      <a:endParaRPr lang="en-IN" sz="1800"/>
                    </a:p>
                  </a:txBody>
                  <a:tcPr/>
                </a:tc>
                <a:tc>
                  <a:txBody>
                    <a:bodyPr/>
                    <a:lstStyle/>
                    <a:p>
                      <a:endParaRPr lang="en-IN" sz="1800" dirty="0"/>
                    </a:p>
                  </a:txBody>
                  <a:tcPr/>
                </a:tc>
                <a:tc>
                  <a:txBody>
                    <a:bodyPr/>
                    <a:lstStyle/>
                    <a:p>
                      <a:endParaRPr lang="en-IN" sz="1800"/>
                    </a:p>
                  </a:txBody>
                  <a:tcPr/>
                </a:tc>
                <a:tc>
                  <a:txBody>
                    <a:bodyPr/>
                    <a:lstStyle/>
                    <a:p>
                      <a:endParaRPr lang="en-IN" sz="1800"/>
                    </a:p>
                  </a:txBody>
                  <a:tcPr/>
                </a:tc>
                <a:extLst>
                  <a:ext uri="{0D108BD9-81ED-4DB2-BD59-A6C34878D82A}">
                    <a16:rowId xmlns:a16="http://schemas.microsoft.com/office/drawing/2014/main" val="3897260691"/>
                  </a:ext>
                </a:extLst>
              </a:tr>
              <a:tr h="0">
                <a:tc>
                  <a:txBody>
                    <a:bodyPr/>
                    <a:lstStyle/>
                    <a:p>
                      <a:endParaRPr lang="en-IN" sz="1800" dirty="0"/>
                    </a:p>
                  </a:txBody>
                  <a:tcPr/>
                </a:tc>
                <a:tc>
                  <a:txBody>
                    <a:bodyPr/>
                    <a:lstStyle/>
                    <a:p>
                      <a:endParaRPr lang="en-IN" sz="1800"/>
                    </a:p>
                  </a:txBody>
                  <a:tcPr/>
                </a:tc>
                <a:tc>
                  <a:txBody>
                    <a:bodyPr/>
                    <a:lstStyle/>
                    <a:p>
                      <a:endParaRPr lang="en-IN" sz="1800" dirty="0"/>
                    </a:p>
                  </a:txBody>
                  <a:tcPr/>
                </a:tc>
                <a:tc>
                  <a:txBody>
                    <a:bodyPr/>
                    <a:lstStyle/>
                    <a:p>
                      <a:endParaRPr lang="en-IN" sz="1800"/>
                    </a:p>
                  </a:txBody>
                  <a:tcPr/>
                </a:tc>
                <a:tc>
                  <a:txBody>
                    <a:bodyPr/>
                    <a:lstStyle/>
                    <a:p>
                      <a:endParaRPr lang="en-IN" sz="1800" dirty="0"/>
                    </a:p>
                  </a:txBody>
                  <a:tcPr/>
                </a:tc>
                <a:tc>
                  <a:txBody>
                    <a:bodyPr/>
                    <a:lstStyle/>
                    <a:p>
                      <a:endParaRPr lang="en-IN" sz="1800"/>
                    </a:p>
                  </a:txBody>
                  <a:tcPr/>
                </a:tc>
                <a:tc>
                  <a:txBody>
                    <a:bodyPr/>
                    <a:lstStyle/>
                    <a:p>
                      <a:endParaRPr lang="en-IN" sz="1800" dirty="0"/>
                    </a:p>
                  </a:txBody>
                  <a:tcPr/>
                </a:tc>
                <a:extLst>
                  <a:ext uri="{0D108BD9-81ED-4DB2-BD59-A6C34878D82A}">
                    <a16:rowId xmlns:a16="http://schemas.microsoft.com/office/drawing/2014/main" val="1277392096"/>
                  </a:ext>
                </a:extLst>
              </a:tr>
            </a:tbl>
          </a:graphicData>
        </a:graphic>
      </p:graphicFrame>
      <p:sp>
        <p:nvSpPr>
          <p:cNvPr id="4" name="Arrow: Pentagon 3">
            <a:extLst>
              <a:ext uri="{FF2B5EF4-FFF2-40B4-BE49-F238E27FC236}">
                <a16:creationId xmlns:a16="http://schemas.microsoft.com/office/drawing/2014/main" id="{874D644F-5E74-CE3E-EE4C-F1F69BAC7E72}"/>
              </a:ext>
            </a:extLst>
          </p:cNvPr>
          <p:cNvSpPr/>
          <p:nvPr/>
        </p:nvSpPr>
        <p:spPr>
          <a:xfrm>
            <a:off x="2623382" y="2963917"/>
            <a:ext cx="1198180" cy="227023"/>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Pentagon 5">
            <a:extLst>
              <a:ext uri="{FF2B5EF4-FFF2-40B4-BE49-F238E27FC236}">
                <a16:creationId xmlns:a16="http://schemas.microsoft.com/office/drawing/2014/main" id="{2571A170-7BFC-A671-65FF-95622EF027AB}"/>
              </a:ext>
            </a:extLst>
          </p:cNvPr>
          <p:cNvSpPr/>
          <p:nvPr/>
        </p:nvSpPr>
        <p:spPr>
          <a:xfrm>
            <a:off x="3777417" y="3367514"/>
            <a:ext cx="1079413" cy="258555"/>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Pentagon 6">
            <a:extLst>
              <a:ext uri="{FF2B5EF4-FFF2-40B4-BE49-F238E27FC236}">
                <a16:creationId xmlns:a16="http://schemas.microsoft.com/office/drawing/2014/main" id="{063ED237-114E-82A1-3ED8-C6555C3F1536}"/>
              </a:ext>
            </a:extLst>
          </p:cNvPr>
          <p:cNvSpPr/>
          <p:nvPr/>
        </p:nvSpPr>
        <p:spPr>
          <a:xfrm>
            <a:off x="4680257" y="3765858"/>
            <a:ext cx="1198180" cy="23227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Arrow: Pentagon 7">
            <a:extLst>
              <a:ext uri="{FF2B5EF4-FFF2-40B4-BE49-F238E27FC236}">
                <a16:creationId xmlns:a16="http://schemas.microsoft.com/office/drawing/2014/main" id="{3CA8355A-E0F7-AB48-8070-86EDB8CA74D9}"/>
              </a:ext>
            </a:extLst>
          </p:cNvPr>
          <p:cNvSpPr/>
          <p:nvPr/>
        </p:nvSpPr>
        <p:spPr>
          <a:xfrm>
            <a:off x="5594656" y="4162098"/>
            <a:ext cx="1198180" cy="272216"/>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Pentagon 8">
            <a:extLst>
              <a:ext uri="{FF2B5EF4-FFF2-40B4-BE49-F238E27FC236}">
                <a16:creationId xmlns:a16="http://schemas.microsoft.com/office/drawing/2014/main" id="{2A864DCB-E9A0-0C5E-71DF-365EA1DD4F8A}"/>
              </a:ext>
            </a:extLst>
          </p:cNvPr>
          <p:cNvSpPr/>
          <p:nvPr/>
        </p:nvSpPr>
        <p:spPr>
          <a:xfrm>
            <a:off x="6584730" y="4667643"/>
            <a:ext cx="1198180" cy="270118"/>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Pentagon 20">
            <a:extLst>
              <a:ext uri="{FF2B5EF4-FFF2-40B4-BE49-F238E27FC236}">
                <a16:creationId xmlns:a16="http://schemas.microsoft.com/office/drawing/2014/main" id="{467A16E6-E730-1011-976A-05A4D919CFBC}"/>
              </a:ext>
            </a:extLst>
          </p:cNvPr>
          <p:cNvSpPr/>
          <p:nvPr/>
        </p:nvSpPr>
        <p:spPr>
          <a:xfrm>
            <a:off x="7808135" y="5191059"/>
            <a:ext cx="1198180" cy="227023"/>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3" name="Table 22">
            <a:extLst>
              <a:ext uri="{FF2B5EF4-FFF2-40B4-BE49-F238E27FC236}">
                <a16:creationId xmlns:a16="http://schemas.microsoft.com/office/drawing/2014/main" id="{79BC71E4-8A2D-9978-D28A-95147F0F3BF3}"/>
              </a:ext>
            </a:extLst>
          </p:cNvPr>
          <p:cNvGraphicFramePr>
            <a:graphicFrameLocks noGrp="1"/>
          </p:cNvGraphicFramePr>
          <p:nvPr>
            <p:extLst>
              <p:ext uri="{D42A27DB-BD31-4B8C-83A1-F6EECF244321}">
                <p14:modId xmlns:p14="http://schemas.microsoft.com/office/powerpoint/2010/main" val="3166472287"/>
              </p:ext>
            </p:extLst>
          </p:nvPr>
        </p:nvGraphicFramePr>
        <p:xfrm>
          <a:off x="2611821" y="2107937"/>
          <a:ext cx="6394494" cy="370840"/>
        </p:xfrm>
        <a:graphic>
          <a:graphicData uri="http://schemas.openxmlformats.org/drawingml/2006/table">
            <a:tbl>
              <a:tblPr firstRow="1" bandRow="1">
                <a:tableStyleId>{5C22544A-7EE6-4342-B048-85BDC9FD1C3A}</a:tableStyleId>
              </a:tblPr>
              <a:tblGrid>
                <a:gridCol w="3167818">
                  <a:extLst>
                    <a:ext uri="{9D8B030D-6E8A-4147-A177-3AD203B41FA5}">
                      <a16:colId xmlns:a16="http://schemas.microsoft.com/office/drawing/2014/main" val="3459470574"/>
                    </a:ext>
                  </a:extLst>
                </a:gridCol>
                <a:gridCol w="3226676">
                  <a:extLst>
                    <a:ext uri="{9D8B030D-6E8A-4147-A177-3AD203B41FA5}">
                      <a16:colId xmlns:a16="http://schemas.microsoft.com/office/drawing/2014/main" val="1774029411"/>
                    </a:ext>
                  </a:extLst>
                </a:gridCol>
              </a:tblGrid>
              <a:tr h="370840">
                <a:tc>
                  <a:txBody>
                    <a:bodyPr/>
                    <a:lstStyle/>
                    <a:p>
                      <a:r>
                        <a:rPr lang="en-US" dirty="0"/>
                        <a:t>                      JANUARY</a:t>
                      </a:r>
                      <a:endParaRPr lang="en-IN" dirty="0"/>
                    </a:p>
                  </a:txBody>
                  <a:tcPr/>
                </a:tc>
                <a:tc>
                  <a:txBody>
                    <a:bodyPr/>
                    <a:lstStyle/>
                    <a:p>
                      <a:r>
                        <a:rPr lang="en-US" dirty="0"/>
                        <a:t>                    FEBRUARY</a:t>
                      </a:r>
                      <a:endParaRPr lang="en-IN" dirty="0"/>
                    </a:p>
                  </a:txBody>
                  <a:tcPr/>
                </a:tc>
                <a:extLst>
                  <a:ext uri="{0D108BD9-81ED-4DB2-BD59-A6C34878D82A}">
                    <a16:rowId xmlns:a16="http://schemas.microsoft.com/office/drawing/2014/main" val="1321348285"/>
                  </a:ext>
                </a:extLst>
              </a:tr>
            </a:tbl>
          </a:graphicData>
        </a:graphic>
      </p:graphicFrame>
    </p:spTree>
    <p:extLst>
      <p:ext uri="{BB962C8B-B14F-4D97-AF65-F5344CB8AC3E}">
        <p14:creationId xmlns:p14="http://schemas.microsoft.com/office/powerpoint/2010/main" val="2445413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0E5406A-9EC8-B8FE-A3E2-19E213281CAE}"/>
              </a:ext>
            </a:extLst>
          </p:cNvPr>
          <p:cNvGraphicFramePr>
            <a:graphicFrameLocks noGrp="1"/>
          </p:cNvGraphicFramePr>
          <p:nvPr>
            <p:extLst>
              <p:ext uri="{D42A27DB-BD31-4B8C-83A1-F6EECF244321}">
                <p14:modId xmlns:p14="http://schemas.microsoft.com/office/powerpoint/2010/main" val="2012858622"/>
              </p:ext>
            </p:extLst>
          </p:nvPr>
        </p:nvGraphicFramePr>
        <p:xfrm>
          <a:off x="73098" y="1918730"/>
          <a:ext cx="8909514" cy="4607521"/>
        </p:xfrm>
        <a:graphic>
          <a:graphicData uri="http://schemas.openxmlformats.org/drawingml/2006/table">
            <a:tbl>
              <a:tblPr firstRow="1" bandRow="1">
                <a:tableStyleId>{5C22544A-7EE6-4342-B048-85BDC9FD1C3A}</a:tableStyleId>
              </a:tblPr>
              <a:tblGrid>
                <a:gridCol w="2088000">
                  <a:extLst>
                    <a:ext uri="{9D8B030D-6E8A-4147-A177-3AD203B41FA5}">
                      <a16:colId xmlns:a16="http://schemas.microsoft.com/office/drawing/2014/main" val="439922619"/>
                    </a:ext>
                  </a:extLst>
                </a:gridCol>
                <a:gridCol w="1136919">
                  <a:extLst>
                    <a:ext uri="{9D8B030D-6E8A-4147-A177-3AD203B41FA5}">
                      <a16:colId xmlns:a16="http://schemas.microsoft.com/office/drawing/2014/main" val="548802438"/>
                    </a:ext>
                  </a:extLst>
                </a:gridCol>
                <a:gridCol w="1136919">
                  <a:extLst>
                    <a:ext uri="{9D8B030D-6E8A-4147-A177-3AD203B41FA5}">
                      <a16:colId xmlns:a16="http://schemas.microsoft.com/office/drawing/2014/main" val="3779780020"/>
                    </a:ext>
                  </a:extLst>
                </a:gridCol>
                <a:gridCol w="1136919">
                  <a:extLst>
                    <a:ext uri="{9D8B030D-6E8A-4147-A177-3AD203B41FA5}">
                      <a16:colId xmlns:a16="http://schemas.microsoft.com/office/drawing/2014/main" val="3289848920"/>
                    </a:ext>
                  </a:extLst>
                </a:gridCol>
                <a:gridCol w="1136919">
                  <a:extLst>
                    <a:ext uri="{9D8B030D-6E8A-4147-A177-3AD203B41FA5}">
                      <a16:colId xmlns:a16="http://schemas.microsoft.com/office/drawing/2014/main" val="2821375640"/>
                    </a:ext>
                  </a:extLst>
                </a:gridCol>
                <a:gridCol w="1136919">
                  <a:extLst>
                    <a:ext uri="{9D8B030D-6E8A-4147-A177-3AD203B41FA5}">
                      <a16:colId xmlns:a16="http://schemas.microsoft.com/office/drawing/2014/main" val="1647059693"/>
                    </a:ext>
                  </a:extLst>
                </a:gridCol>
                <a:gridCol w="1136919">
                  <a:extLst>
                    <a:ext uri="{9D8B030D-6E8A-4147-A177-3AD203B41FA5}">
                      <a16:colId xmlns:a16="http://schemas.microsoft.com/office/drawing/2014/main" val="2679391098"/>
                    </a:ext>
                  </a:extLst>
                </a:gridCol>
              </a:tblGrid>
              <a:tr h="559191">
                <a:tc>
                  <a:txBody>
                    <a:bodyPr/>
                    <a:lstStyle/>
                    <a:p>
                      <a:endParaRPr lang="en-IN" dirty="0"/>
                    </a:p>
                  </a:txBody>
                  <a:tcPr/>
                </a:tc>
                <a:tc>
                  <a:txBody>
                    <a:bodyPr/>
                    <a:lstStyle/>
                    <a:p>
                      <a:r>
                        <a:rPr lang="en-US" dirty="0"/>
                        <a:t>Week 7</a:t>
                      </a:r>
                      <a:endParaRPr lang="en-IN" dirty="0"/>
                    </a:p>
                  </a:txBody>
                  <a:tcPr/>
                </a:tc>
                <a:tc>
                  <a:txBody>
                    <a:bodyPr/>
                    <a:lstStyle/>
                    <a:p>
                      <a:r>
                        <a:rPr lang="en-US" dirty="0"/>
                        <a:t>Week 8</a:t>
                      </a:r>
                      <a:endParaRPr lang="en-IN" dirty="0"/>
                    </a:p>
                  </a:txBody>
                  <a:tcPr/>
                </a:tc>
                <a:tc>
                  <a:txBody>
                    <a:bodyPr/>
                    <a:lstStyle/>
                    <a:p>
                      <a:r>
                        <a:rPr lang="en-US" dirty="0"/>
                        <a:t>Week 9</a:t>
                      </a:r>
                      <a:endParaRPr lang="en-IN" dirty="0"/>
                    </a:p>
                  </a:txBody>
                  <a:tcPr/>
                </a:tc>
                <a:tc>
                  <a:txBody>
                    <a:bodyPr/>
                    <a:lstStyle/>
                    <a:p>
                      <a:r>
                        <a:rPr lang="en-US" dirty="0"/>
                        <a:t>Week 10</a:t>
                      </a:r>
                      <a:endParaRPr lang="en-IN" dirty="0"/>
                    </a:p>
                  </a:txBody>
                  <a:tcPr/>
                </a:tc>
                <a:tc>
                  <a:txBody>
                    <a:bodyPr/>
                    <a:lstStyle/>
                    <a:p>
                      <a:r>
                        <a:rPr lang="en-US" dirty="0"/>
                        <a:t>Week 11</a:t>
                      </a:r>
                      <a:endParaRPr lang="en-IN" dirty="0"/>
                    </a:p>
                  </a:txBody>
                  <a:tcPr/>
                </a:tc>
                <a:tc>
                  <a:txBody>
                    <a:bodyPr/>
                    <a:lstStyle/>
                    <a:p>
                      <a:r>
                        <a:rPr lang="en-US" dirty="0"/>
                        <a:t>Week 12</a:t>
                      </a:r>
                      <a:endParaRPr lang="en-IN" dirty="0"/>
                    </a:p>
                  </a:txBody>
                  <a:tcPr/>
                </a:tc>
                <a:extLst>
                  <a:ext uri="{0D108BD9-81ED-4DB2-BD59-A6C34878D82A}">
                    <a16:rowId xmlns:a16="http://schemas.microsoft.com/office/drawing/2014/main" val="1332700955"/>
                  </a:ext>
                </a:extLst>
              </a:tr>
              <a:tr h="5591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Frontend Integration</a:t>
                      </a:r>
                    </a:p>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548028802"/>
                  </a:ext>
                </a:extLst>
              </a:tr>
              <a:tr h="559191">
                <a:tc>
                  <a:txBody>
                    <a:bodyPr/>
                    <a:lstStyle/>
                    <a:p>
                      <a:r>
                        <a:rPr lang="en-IN" dirty="0"/>
                        <a:t>Real-Time Personalization</a:t>
                      </a:r>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148392743"/>
                  </a:ext>
                </a:extLst>
              </a:tr>
              <a:tr h="559191">
                <a:tc>
                  <a:txBody>
                    <a:bodyPr/>
                    <a:lstStyle/>
                    <a:p>
                      <a:r>
                        <a:rPr lang="en-US" dirty="0"/>
                        <a:t>Verifying Program</a:t>
                      </a:r>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546078321"/>
                  </a:ext>
                </a:extLst>
              </a:tr>
              <a:tr h="608505">
                <a:tc>
                  <a:txBody>
                    <a:bodyPr/>
                    <a:lstStyle/>
                    <a:p>
                      <a:r>
                        <a:rPr lang="en-US" dirty="0"/>
                        <a:t>Finishing the Final Touchups</a:t>
                      </a:r>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7758687"/>
                  </a:ext>
                </a:extLst>
              </a:tr>
              <a:tr h="559191">
                <a:tc>
                  <a:txBody>
                    <a:bodyPr/>
                    <a:lstStyle/>
                    <a:p>
                      <a:r>
                        <a:rPr lang="en-US" dirty="0"/>
                        <a:t>Testing &amp; Debugging</a:t>
                      </a:r>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637706251"/>
                  </a:ext>
                </a:extLst>
              </a:tr>
              <a:tr h="735388">
                <a:tc>
                  <a:txBody>
                    <a:bodyPr/>
                    <a:lstStyle/>
                    <a:p>
                      <a:r>
                        <a:rPr lang="en-US" dirty="0"/>
                        <a:t>Review 2</a:t>
                      </a:r>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0419750"/>
                  </a:ext>
                </a:extLst>
              </a:tr>
            </a:tbl>
          </a:graphicData>
        </a:graphic>
      </p:graphicFrame>
      <p:sp>
        <p:nvSpPr>
          <p:cNvPr id="10" name="Arrow: Pentagon 9">
            <a:extLst>
              <a:ext uri="{FF2B5EF4-FFF2-40B4-BE49-F238E27FC236}">
                <a16:creationId xmlns:a16="http://schemas.microsoft.com/office/drawing/2014/main" id="{6540A5EE-E064-65FE-F973-51EBB670BD1E}"/>
              </a:ext>
            </a:extLst>
          </p:cNvPr>
          <p:cNvSpPr/>
          <p:nvPr/>
        </p:nvSpPr>
        <p:spPr>
          <a:xfrm>
            <a:off x="2301766" y="2604464"/>
            <a:ext cx="1122504" cy="277473"/>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Pentagon 10">
            <a:extLst>
              <a:ext uri="{FF2B5EF4-FFF2-40B4-BE49-F238E27FC236}">
                <a16:creationId xmlns:a16="http://schemas.microsoft.com/office/drawing/2014/main" id="{472B4DBB-98C1-9FB3-AC80-50D0EE5E6B10}"/>
              </a:ext>
            </a:extLst>
          </p:cNvPr>
          <p:cNvSpPr/>
          <p:nvPr/>
        </p:nvSpPr>
        <p:spPr>
          <a:xfrm>
            <a:off x="3217216" y="3121572"/>
            <a:ext cx="1310639" cy="315311"/>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Pentagon 11">
            <a:extLst>
              <a:ext uri="{FF2B5EF4-FFF2-40B4-BE49-F238E27FC236}">
                <a16:creationId xmlns:a16="http://schemas.microsoft.com/office/drawing/2014/main" id="{A54057A0-CF46-CC22-0B32-219A156445E8}"/>
              </a:ext>
            </a:extLst>
          </p:cNvPr>
          <p:cNvSpPr/>
          <p:nvPr/>
        </p:nvSpPr>
        <p:spPr>
          <a:xfrm>
            <a:off x="4364946" y="3689131"/>
            <a:ext cx="1253883" cy="315311"/>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Pentagon 12">
            <a:extLst>
              <a:ext uri="{FF2B5EF4-FFF2-40B4-BE49-F238E27FC236}">
                <a16:creationId xmlns:a16="http://schemas.microsoft.com/office/drawing/2014/main" id="{82198C07-B638-E297-D036-DAF6B412D2DA}"/>
              </a:ext>
            </a:extLst>
          </p:cNvPr>
          <p:cNvSpPr/>
          <p:nvPr/>
        </p:nvSpPr>
        <p:spPr>
          <a:xfrm>
            <a:off x="5418084" y="4300833"/>
            <a:ext cx="1348476" cy="310055"/>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Pentagon 13">
            <a:extLst>
              <a:ext uri="{FF2B5EF4-FFF2-40B4-BE49-F238E27FC236}">
                <a16:creationId xmlns:a16="http://schemas.microsoft.com/office/drawing/2014/main" id="{E1FD7A0D-D4AD-1415-69F0-82EFCC509251}"/>
              </a:ext>
            </a:extLst>
          </p:cNvPr>
          <p:cNvSpPr/>
          <p:nvPr/>
        </p:nvSpPr>
        <p:spPr>
          <a:xfrm>
            <a:off x="6559506" y="4844217"/>
            <a:ext cx="1316945" cy="32687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Pentagon 14">
            <a:extLst>
              <a:ext uri="{FF2B5EF4-FFF2-40B4-BE49-F238E27FC236}">
                <a16:creationId xmlns:a16="http://schemas.microsoft.com/office/drawing/2014/main" id="{D80737D1-32B6-DD8D-205C-89D790C3E6A1}"/>
              </a:ext>
            </a:extLst>
          </p:cNvPr>
          <p:cNvSpPr/>
          <p:nvPr/>
        </p:nvSpPr>
        <p:spPr>
          <a:xfrm>
            <a:off x="7814442" y="5511625"/>
            <a:ext cx="1209740" cy="347893"/>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3" name="Table 22">
            <a:extLst>
              <a:ext uri="{FF2B5EF4-FFF2-40B4-BE49-F238E27FC236}">
                <a16:creationId xmlns:a16="http://schemas.microsoft.com/office/drawing/2014/main" id="{1C5F7933-CFEB-608C-2364-CCFD8FDB4EEB}"/>
              </a:ext>
            </a:extLst>
          </p:cNvPr>
          <p:cNvGraphicFramePr>
            <a:graphicFrameLocks noGrp="1"/>
          </p:cNvGraphicFramePr>
          <p:nvPr>
            <p:extLst>
              <p:ext uri="{D42A27DB-BD31-4B8C-83A1-F6EECF244321}">
                <p14:modId xmlns:p14="http://schemas.microsoft.com/office/powerpoint/2010/main" val="2658012784"/>
              </p:ext>
            </p:extLst>
          </p:nvPr>
        </p:nvGraphicFramePr>
        <p:xfrm>
          <a:off x="2133600" y="1566098"/>
          <a:ext cx="6849012" cy="37084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827663293"/>
                    </a:ext>
                  </a:extLst>
                </a:gridCol>
                <a:gridCol w="3420012">
                  <a:extLst>
                    <a:ext uri="{9D8B030D-6E8A-4147-A177-3AD203B41FA5}">
                      <a16:colId xmlns:a16="http://schemas.microsoft.com/office/drawing/2014/main" val="1847351427"/>
                    </a:ext>
                  </a:extLst>
                </a:gridCol>
              </a:tblGrid>
              <a:tr h="370840">
                <a:tc>
                  <a:txBody>
                    <a:bodyPr/>
                    <a:lstStyle/>
                    <a:p>
                      <a:r>
                        <a:rPr lang="en-US" dirty="0"/>
                        <a:t>                   MARCH</a:t>
                      </a:r>
                      <a:endParaRPr lang="en-IN" dirty="0"/>
                    </a:p>
                  </a:txBody>
                  <a:tcPr/>
                </a:tc>
                <a:tc>
                  <a:txBody>
                    <a:bodyPr/>
                    <a:lstStyle/>
                    <a:p>
                      <a:r>
                        <a:rPr lang="en-US" dirty="0"/>
                        <a:t>                     APRIL</a:t>
                      </a:r>
                      <a:endParaRPr lang="en-IN" dirty="0"/>
                    </a:p>
                  </a:txBody>
                  <a:tcPr/>
                </a:tc>
                <a:extLst>
                  <a:ext uri="{0D108BD9-81ED-4DB2-BD59-A6C34878D82A}">
                    <a16:rowId xmlns:a16="http://schemas.microsoft.com/office/drawing/2014/main" val="1240770386"/>
                  </a:ext>
                </a:extLst>
              </a:tr>
            </a:tbl>
          </a:graphicData>
        </a:graphic>
      </p:graphicFrame>
    </p:spTree>
    <p:extLst>
      <p:ext uri="{BB962C8B-B14F-4D97-AF65-F5344CB8AC3E}">
        <p14:creationId xmlns:p14="http://schemas.microsoft.com/office/powerpoint/2010/main" val="2349409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1143000"/>
          </a:xfrm>
        </p:spPr>
        <p:txBody>
          <a:bodyPr>
            <a:normAutofit/>
          </a:bodyPr>
          <a:lstStyle/>
          <a:p>
            <a:r>
              <a:rPr lang="en-IN"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152400" y="1066800"/>
            <a:ext cx="8931956" cy="5472608"/>
          </a:xfrm>
        </p:spPr>
        <p:txBody>
          <a:bodyPr>
            <a:normAutofit/>
          </a:bodyPr>
          <a:lstStyle/>
          <a:p>
            <a:pPr marL="0" indent="0" algn="just">
              <a:buNone/>
            </a:pPr>
            <a:endParaRPr lang="en-IN" sz="1400" b="0" i="0" dirty="0">
              <a:effectLst/>
              <a:latin typeface="Open Sans" panose="020F0502020204030204" pitchFamily="34" charset="0"/>
            </a:endParaRPr>
          </a:p>
          <a:p>
            <a:pPr marL="0" indent="0" algn="just">
              <a:buNone/>
            </a:pPr>
            <a:r>
              <a:rPr lang="en-IN" sz="1800" b="0" i="0" dirty="0">
                <a:solidFill>
                  <a:srgbClr val="222222"/>
                </a:solidFill>
                <a:effectLst/>
                <a:latin typeface="Arial" panose="020B0604020202020204" pitchFamily="34" charset="0"/>
              </a:rPr>
              <a:t>[1] </a:t>
            </a:r>
            <a:r>
              <a:rPr lang="en-US" sz="1800" b="0" i="0" dirty="0">
                <a:solidFill>
                  <a:srgbClr val="222222"/>
                </a:solidFill>
                <a:effectLst/>
                <a:latin typeface="Arial" panose="020B0604020202020204" pitchFamily="34" charset="0"/>
              </a:rPr>
              <a:t>Nugraha, N. B., and E. Alimudin. "Mobile application development for tourist guide    in Pekanbaru City." Journal of Physics: Conference Series. Vol. 1430. No. 1. IOP Publishing, 2020.</a:t>
            </a:r>
          </a:p>
          <a:p>
            <a:pPr marL="0" indent="0" algn="just">
              <a:buNone/>
            </a:pPr>
            <a:r>
              <a:rPr lang="en-IN" sz="1800" b="0" i="0" dirty="0">
                <a:solidFill>
                  <a:srgbClr val="222222"/>
                </a:solidFill>
                <a:effectLst/>
                <a:latin typeface="Arial" panose="020B0604020202020204" pitchFamily="34" charset="0"/>
              </a:rPr>
              <a:t>[2] </a:t>
            </a:r>
            <a:r>
              <a:rPr lang="en-US" sz="1800" b="0" i="0" dirty="0">
                <a:solidFill>
                  <a:srgbClr val="222222"/>
                </a:solidFill>
                <a:effectLst/>
                <a:latin typeface="Arial" panose="020B0604020202020204" pitchFamily="34" charset="0"/>
              </a:rPr>
              <a:t>Buberwa, R. F., &amp; Msusa, A. (2019). Developing a mobile gis tour guide app for       dar-es-salaam city, Tanzania. International Journal of Scientific and Technology Research, 8(4), 237-242.</a:t>
            </a:r>
          </a:p>
          <a:p>
            <a:pPr marL="0" indent="0" algn="just">
              <a:buNone/>
            </a:pPr>
            <a:r>
              <a:rPr lang="en-IN" sz="1800" b="0" i="0" dirty="0">
                <a:solidFill>
                  <a:srgbClr val="222222"/>
                </a:solidFill>
                <a:effectLst/>
                <a:latin typeface="Arial" panose="020B0604020202020204" pitchFamily="34" charset="0"/>
              </a:rPr>
              <a:t>[3] Chavan, R., Bhoir, M., Sapkale, G., &amp; Mhatre, A. Smart Tourist Guide System. </a:t>
            </a:r>
            <a:r>
              <a:rPr lang="en-IN" sz="1800" b="0" i="1" dirty="0">
                <a:solidFill>
                  <a:srgbClr val="222222"/>
                </a:solidFill>
                <a:effectLst/>
                <a:latin typeface="Arial" panose="020B0604020202020204" pitchFamily="34" charset="0"/>
              </a:rPr>
              <a:t>Engpaper Journal</a:t>
            </a:r>
            <a:r>
              <a:rPr lang="en-IN" sz="1800" b="0" i="0" dirty="0">
                <a:solidFill>
                  <a:srgbClr val="222222"/>
                </a:solidFill>
                <a:effectLst/>
                <a:latin typeface="Arial" panose="020B0604020202020204" pitchFamily="34" charset="0"/>
              </a:rPr>
              <a:t>.</a:t>
            </a:r>
          </a:p>
          <a:p>
            <a:pPr marL="0" indent="0" algn="just">
              <a:buNone/>
            </a:pPr>
            <a:r>
              <a:rPr lang="en-IN" sz="1800" dirty="0">
                <a:solidFill>
                  <a:srgbClr val="222222"/>
                </a:solidFill>
                <a:latin typeface="Arial" panose="020B0604020202020204" pitchFamily="34" charset="0"/>
              </a:rPr>
              <a:t>[4] Nurhasan, U., Pradibta, H., Suryadi, S. B., &amp; Alfinda, A. (2019, December). Smart tourist guide application for the introduction of Malang city tourism potential using hybrid technology. In Journal of Physics: Conference Series (Vol. 1402, No. 6, p. 066051). IOP Publishing.</a:t>
            </a:r>
            <a:endParaRPr lang="en-IN" sz="1800" dirty="0">
              <a:latin typeface="Eras Demi ITC" panose="020B0805030504020804" pitchFamily="34" charset="0"/>
            </a:endParaRPr>
          </a:p>
        </p:txBody>
      </p:sp>
    </p:spTree>
    <p:extLst>
      <p:ext uri="{BB962C8B-B14F-4D97-AF65-F5344CB8AC3E}">
        <p14:creationId xmlns:p14="http://schemas.microsoft.com/office/powerpoint/2010/main" val="2147528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95536" y="2780928"/>
            <a:ext cx="8229600" cy="1143000"/>
          </a:xfrm>
        </p:spPr>
        <p:txBody>
          <a:bodyPr>
            <a:normAutofit/>
          </a:bodyPr>
          <a:lstStyle/>
          <a:p>
            <a:r>
              <a:rPr lang="en-IN" b="1" dirty="0">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2698444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2009</TotalTime>
  <Words>1309</Words>
  <Application>Microsoft Office PowerPoint</Application>
  <PresentationFormat>On-screen Show (4:3)</PresentationFormat>
  <Paragraphs>174</Paragraphs>
  <Slides>18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Eras Demi ITC</vt:lpstr>
      <vt:lpstr>Open Sans</vt:lpstr>
      <vt:lpstr>Times New Roman</vt:lpstr>
      <vt:lpstr>Wingdings</vt:lpstr>
      <vt:lpstr>Office Theme</vt:lpstr>
      <vt:lpstr>Datta Meghe College of Engineering Airoli, Navi Mumbai Department of Information Technology</vt:lpstr>
      <vt:lpstr>Content</vt:lpstr>
      <vt:lpstr>Introduction</vt:lpstr>
      <vt:lpstr>Literature Review</vt:lpstr>
      <vt:lpstr>PowerPoint Presentation</vt:lpstr>
      <vt:lpstr>PowerPoint Presentation</vt:lpstr>
      <vt:lpstr>PowerPoint Presentation</vt:lpstr>
      <vt:lpstr>PowerPoint Presentation</vt:lpstr>
      <vt:lpstr>Problem Definition</vt:lpstr>
      <vt:lpstr>Aim And Objectives</vt:lpstr>
      <vt:lpstr>Proposed Methodology</vt:lpstr>
      <vt:lpstr>Flowchart</vt:lpstr>
      <vt:lpstr>ML MODEL</vt:lpstr>
      <vt:lpstr>Tech stack used</vt:lpstr>
      <vt:lpstr>Time Frame (Planning)  of completion of project</vt:lpstr>
      <vt:lpstr>PowerPoint Presentation</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Nagar Yuwak Shikshan Sanstha’s Datta Meghe College of Engineering Airoli, Navi Mumbai Department of Electronics Engineering</dc:title>
  <dc:creator>Ravi</dc:creator>
  <cp:lastModifiedBy>dnyanesh khandekar</cp:lastModifiedBy>
  <cp:revision>65</cp:revision>
  <dcterms:created xsi:type="dcterms:W3CDTF">2020-10-26T10:26:14Z</dcterms:created>
  <dcterms:modified xsi:type="dcterms:W3CDTF">2025-04-02T15:28:17Z</dcterms:modified>
</cp:coreProperties>
</file>